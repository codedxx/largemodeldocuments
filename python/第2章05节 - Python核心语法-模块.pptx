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24"/>
  </p:notesMasterIdLst>
  <p:handoutMasterIdLst>
    <p:handoutMasterId r:id="rId25"/>
  </p:handoutMasterIdLst>
  <p:sldIdLst>
    <p:sldId id="736" r:id="rId5"/>
    <p:sldId id="749" r:id="rId6"/>
    <p:sldId id="750" r:id="rId7"/>
    <p:sldId id="751" r:id="rId8"/>
    <p:sldId id="752" r:id="rId9"/>
    <p:sldId id="753" r:id="rId10"/>
    <p:sldId id="754" r:id="rId11"/>
    <p:sldId id="765" r:id="rId12"/>
    <p:sldId id="755" r:id="rId13"/>
    <p:sldId id="766" r:id="rId14"/>
    <p:sldId id="756" r:id="rId15"/>
    <p:sldId id="757" r:id="rId16"/>
    <p:sldId id="769" r:id="rId17"/>
    <p:sldId id="770" r:id="rId18"/>
    <p:sldId id="767" r:id="rId19"/>
    <p:sldId id="758" r:id="rId20"/>
    <p:sldId id="759" r:id="rId21"/>
    <p:sldId id="760" r:id="rId22"/>
    <p:sldId id="288" r:id="rId23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B0D99CA-8C89-4D82-B9AC-5A66DF586B19}">
          <p14:sldIdLst>
            <p14:sldId id="736"/>
            <p14:sldId id="749"/>
            <p14:sldId id="750"/>
            <p14:sldId id="751"/>
            <p14:sldId id="752"/>
            <p14:sldId id="753"/>
            <p14:sldId id="754"/>
            <p14:sldId id="765"/>
            <p14:sldId id="755"/>
            <p14:sldId id="766"/>
            <p14:sldId id="756"/>
            <p14:sldId id="757"/>
            <p14:sldId id="769"/>
            <p14:sldId id="770"/>
            <p14:sldId id="767"/>
            <p14:sldId id="758"/>
            <p14:sldId id="759"/>
            <p14:sldId id="760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7D17"/>
    <a:srgbClr val="E8E8E8"/>
    <a:srgbClr val="A7E8FF"/>
    <a:srgbClr val="8F9997"/>
    <a:srgbClr val="00B0F0"/>
    <a:srgbClr val="C00000"/>
    <a:srgbClr val="0033B3"/>
    <a:srgbClr val="F2F2F2"/>
    <a:srgbClr val="4078F2"/>
    <a:srgbClr val="A62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1" autoAdjust="0"/>
    <p:restoredTop sz="95664" autoAdjust="0"/>
  </p:normalViewPr>
  <p:slideViewPr>
    <p:cSldViewPr snapToGrid="0" showGuides="1">
      <p:cViewPr varScale="1">
        <p:scale>
          <a:sx n="96" d="100"/>
          <a:sy n="96" d="100"/>
        </p:scale>
        <p:origin x="2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32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项目开发中，如果模块过多，就可能会造成混乱，不便于管理和维护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77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90DF3-8389-0F01-1B59-219A935DF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7" y="336399"/>
            <a:ext cx="2001352" cy="474415"/>
          </a:xfrm>
        </p:spPr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模块</a:t>
            </a:r>
          </a:p>
        </p:txBody>
      </p:sp>
      <p:grpSp>
        <p:nvGrpSpPr>
          <p:cNvPr id="4" name="!!组合 3">
            <a:extLst>
              <a:ext uri="{FF2B5EF4-FFF2-40B4-BE49-F238E27FC236}">
                <a16:creationId xmlns:a16="http://schemas.microsoft.com/office/drawing/2014/main" id="{4826E1C0-BFC9-D399-E4D8-72AA140BE9B1}"/>
              </a:ext>
            </a:extLst>
          </p:cNvPr>
          <p:cNvGrpSpPr/>
          <p:nvPr/>
        </p:nvGrpSpPr>
        <p:grpSpPr>
          <a:xfrm>
            <a:off x="1317459" y="1870925"/>
            <a:ext cx="3285100" cy="3794379"/>
            <a:chOff x="4313331" y="3230219"/>
            <a:chExt cx="2967241" cy="3442047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D9D2B92-F61D-D98D-48E1-21319E26A70C}"/>
                </a:ext>
              </a:extLst>
            </p:cNvPr>
            <p:cNvGrpSpPr/>
            <p:nvPr/>
          </p:nvGrpSpPr>
          <p:grpSpPr>
            <a:xfrm>
              <a:off x="4313331" y="3230219"/>
              <a:ext cx="2967241" cy="3442047"/>
              <a:chOff x="2883349" y="3111062"/>
              <a:chExt cx="3280482" cy="3622047"/>
            </a:xfrm>
          </p:grpSpPr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D9AD3A8C-8035-24A2-7D0F-0D20EC7D6794}"/>
                  </a:ext>
                </a:extLst>
              </p:cNvPr>
              <p:cNvSpPr/>
              <p:nvPr/>
            </p:nvSpPr>
            <p:spPr>
              <a:xfrm>
                <a:off x="2883349" y="3111062"/>
                <a:ext cx="3280482" cy="3622047"/>
              </a:xfrm>
              <a:custGeom>
                <a:avLst/>
                <a:gdLst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6" fmla="*/ 0 w 3069020"/>
                  <a:gd name="connsiteY6" fmla="*/ 0 h 3510455"/>
                  <a:gd name="connsiteX0" fmla="*/ 25708 w 3094728"/>
                  <a:gd name="connsiteY0" fmla="*/ 0 h 3510455"/>
                  <a:gd name="connsiteX1" fmla="*/ 2312219 w 3094728"/>
                  <a:gd name="connsiteY1" fmla="*/ 0 h 3510455"/>
                  <a:gd name="connsiteX2" fmla="*/ 2341585 w 3094728"/>
                  <a:gd name="connsiteY2" fmla="*/ 15324 h 3510455"/>
                  <a:gd name="connsiteX3" fmla="*/ 3094728 w 3094728"/>
                  <a:gd name="connsiteY3" fmla="*/ 731145 h 3510455"/>
                  <a:gd name="connsiteX4" fmla="*/ 3094728 w 3094728"/>
                  <a:gd name="connsiteY4" fmla="*/ 3510455 h 3510455"/>
                  <a:gd name="connsiteX5" fmla="*/ 25708 w 3094728"/>
                  <a:gd name="connsiteY5" fmla="*/ 3510455 h 3510455"/>
                  <a:gd name="connsiteX6" fmla="*/ 25708 w 3094728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5173" h="3510455">
                    <a:moveTo>
                      <a:pt x="36153" y="0"/>
                    </a:moveTo>
                    <a:cubicBezTo>
                      <a:pt x="904373" y="50847"/>
                      <a:pt x="1560494" y="0"/>
                      <a:pt x="2322664" y="0"/>
                    </a:cubicBezTo>
                    <a:lnTo>
                      <a:pt x="2352030" y="15324"/>
                    </a:lnTo>
                    <a:lnTo>
                      <a:pt x="3105173" y="731145"/>
                    </a:lnTo>
                    <a:cubicBezTo>
                      <a:pt x="3105173" y="1657582"/>
                      <a:pt x="3018404" y="2541645"/>
                      <a:pt x="3105173" y="3510455"/>
                    </a:cubicBezTo>
                    <a:cubicBezTo>
                      <a:pt x="2053244" y="3459608"/>
                      <a:pt x="1117006" y="3459608"/>
                      <a:pt x="7230" y="3510455"/>
                    </a:cubicBezTo>
                    <a:cubicBezTo>
                      <a:pt x="7230" y="2340303"/>
                      <a:pt x="-21693" y="1170152"/>
                      <a:pt x="3615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8A2892D8-1339-1667-DA25-420ACB8D4455}"/>
                  </a:ext>
                </a:extLst>
              </p:cNvPr>
              <p:cNvSpPr/>
              <p:nvPr/>
            </p:nvSpPr>
            <p:spPr>
              <a:xfrm rot="13408035">
                <a:off x="5027214" y="3419467"/>
                <a:ext cx="1062195" cy="541091"/>
              </a:xfrm>
              <a:custGeom>
                <a:avLst/>
                <a:gdLst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2195" h="541091">
                    <a:moveTo>
                      <a:pt x="1062195" y="534418"/>
                    </a:moveTo>
                    <a:lnTo>
                      <a:pt x="1030365" y="541091"/>
                    </a:lnTo>
                    <a:lnTo>
                      <a:pt x="0" y="541091"/>
                    </a:lnTo>
                    <a:cubicBezTo>
                      <a:pt x="178131" y="360727"/>
                      <a:pt x="136110" y="357977"/>
                      <a:pt x="534393" y="0"/>
                    </a:cubicBezTo>
                    <a:cubicBezTo>
                      <a:pt x="896687" y="407497"/>
                      <a:pt x="902466" y="354898"/>
                      <a:pt x="1062195" y="534418"/>
                    </a:cubicBezTo>
                    <a:close/>
                  </a:path>
                </a:pathLst>
              </a:custGeom>
              <a:gradFill>
                <a:gsLst>
                  <a:gs pos="88000">
                    <a:srgbClr val="D1D1D1"/>
                  </a:gs>
                  <a:gs pos="48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  <a:alpha val="8400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38100" dist="25400" dir="72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199873E-26E1-08E4-166F-323E598EDB66}"/>
                </a:ext>
              </a:extLst>
            </p:cNvPr>
            <p:cNvSpPr txBox="1"/>
            <p:nvPr/>
          </p:nvSpPr>
          <p:spPr>
            <a:xfrm>
              <a:off x="4532118" y="3486871"/>
              <a:ext cx="2463499" cy="2598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bg1">
                      <a:lumMod val="65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chemeClr val="bg1">
                      <a:lumMod val="65000"/>
                    </a:schemeClr>
                  </a:solidFill>
                  <a:latin typeface="Fira Code" panose="020B0809050000020004" pitchFamily="49" charset="0"/>
                </a:rPr>
                <a:t>根据半径计算圆的面积</a:t>
              </a:r>
              <a:endParaRPr lang="en-US" altLang="zh-CN" sz="1100">
                <a:solidFill>
                  <a:schemeClr val="bg1">
                    <a:lumMod val="65000"/>
                  </a:schemeClr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A626A4"/>
                  </a:solidFill>
                  <a:effectLst/>
                  <a:latin typeface="Fira Code" panose="020B0809050000020004" pitchFamily="49" charset="0"/>
                </a:rPr>
                <a:t>def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4078F2"/>
                  </a:solidFill>
                  <a:effectLst/>
                  <a:latin typeface="Fira Code" panose="020B0809050000020004" pitchFamily="49" charset="0"/>
                </a:rPr>
                <a:t>circle_area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</a:t>
              </a:r>
              <a:b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area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area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chemeClr val="bg1">
                      <a:lumMod val="65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chemeClr val="bg1">
                      <a:lumMod val="65000"/>
                    </a:schemeClr>
                  </a:solidFill>
                  <a:effectLst/>
                  <a:latin typeface="Fira Code" panose="020B0809050000020004" pitchFamily="49" charset="0"/>
                </a:rPr>
                <a:t>根据半径计算圆的周长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A626A4"/>
                  </a:solidFill>
                  <a:effectLst/>
                  <a:latin typeface="Fira Code" panose="020B0809050000020004" pitchFamily="49" charset="0"/>
                </a:rPr>
                <a:t>def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4078F2"/>
                  </a:solidFill>
                  <a:effectLst/>
                  <a:latin typeface="Fira Code" panose="020B0809050000020004" pitchFamily="49" charset="0"/>
                </a:rPr>
                <a:t>circle_</a:t>
              </a:r>
              <a:r>
                <a:rPr lang="en-US" altLang="zh-CN" sz="1100">
                  <a:solidFill>
                    <a:srgbClr val="4078F2"/>
                  </a:solidFill>
                  <a:latin typeface="Fira Code" panose="020B0809050000020004" pitchFamily="49" charset="0"/>
                </a:rPr>
                <a:t>len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</a:t>
              </a:r>
              <a:b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perimeter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perimeter</a:t>
              </a: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4E18D50-C43F-41A7-BC97-09998645F777}"/>
              </a:ext>
            </a:extLst>
          </p:cNvPr>
          <p:cNvGrpSpPr/>
          <p:nvPr/>
        </p:nvGrpSpPr>
        <p:grpSpPr>
          <a:xfrm>
            <a:off x="7327372" y="1276368"/>
            <a:ext cx="3665307" cy="4673857"/>
            <a:chOff x="4300292" y="3230219"/>
            <a:chExt cx="2980280" cy="4239860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FA9284E-7BD8-3F64-0C61-1EB21B90B060}"/>
                </a:ext>
              </a:extLst>
            </p:cNvPr>
            <p:cNvGrpSpPr/>
            <p:nvPr/>
          </p:nvGrpSpPr>
          <p:grpSpPr>
            <a:xfrm>
              <a:off x="4313331" y="3230219"/>
              <a:ext cx="2967241" cy="4239860"/>
              <a:chOff x="2883349" y="3111062"/>
              <a:chExt cx="3280482" cy="4461581"/>
            </a:xfrm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75AE32AD-4E7F-57F5-AA87-9EC6DB04A758}"/>
                  </a:ext>
                </a:extLst>
              </p:cNvPr>
              <p:cNvSpPr/>
              <p:nvPr/>
            </p:nvSpPr>
            <p:spPr>
              <a:xfrm>
                <a:off x="2883349" y="3111062"/>
                <a:ext cx="3280482" cy="4461581"/>
              </a:xfrm>
              <a:custGeom>
                <a:avLst/>
                <a:gdLst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6" fmla="*/ 0 w 3069020"/>
                  <a:gd name="connsiteY6" fmla="*/ 0 h 3510455"/>
                  <a:gd name="connsiteX0" fmla="*/ 25708 w 3094728"/>
                  <a:gd name="connsiteY0" fmla="*/ 0 h 3510455"/>
                  <a:gd name="connsiteX1" fmla="*/ 2312219 w 3094728"/>
                  <a:gd name="connsiteY1" fmla="*/ 0 h 3510455"/>
                  <a:gd name="connsiteX2" fmla="*/ 2341585 w 3094728"/>
                  <a:gd name="connsiteY2" fmla="*/ 15324 h 3510455"/>
                  <a:gd name="connsiteX3" fmla="*/ 3094728 w 3094728"/>
                  <a:gd name="connsiteY3" fmla="*/ 731145 h 3510455"/>
                  <a:gd name="connsiteX4" fmla="*/ 3094728 w 3094728"/>
                  <a:gd name="connsiteY4" fmla="*/ 3510455 h 3510455"/>
                  <a:gd name="connsiteX5" fmla="*/ 25708 w 3094728"/>
                  <a:gd name="connsiteY5" fmla="*/ 3510455 h 3510455"/>
                  <a:gd name="connsiteX6" fmla="*/ 25708 w 3094728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5173" h="3510455">
                    <a:moveTo>
                      <a:pt x="36153" y="0"/>
                    </a:moveTo>
                    <a:cubicBezTo>
                      <a:pt x="904373" y="50847"/>
                      <a:pt x="1560494" y="0"/>
                      <a:pt x="2322664" y="0"/>
                    </a:cubicBezTo>
                    <a:lnTo>
                      <a:pt x="2352030" y="15324"/>
                    </a:lnTo>
                    <a:lnTo>
                      <a:pt x="3105173" y="731145"/>
                    </a:lnTo>
                    <a:cubicBezTo>
                      <a:pt x="3105173" y="1657582"/>
                      <a:pt x="3018404" y="2541645"/>
                      <a:pt x="3105173" y="3510455"/>
                    </a:cubicBezTo>
                    <a:cubicBezTo>
                      <a:pt x="2053244" y="3459608"/>
                      <a:pt x="1117006" y="3459608"/>
                      <a:pt x="7230" y="3510455"/>
                    </a:cubicBezTo>
                    <a:cubicBezTo>
                      <a:pt x="7230" y="2340303"/>
                      <a:pt x="-21693" y="1170152"/>
                      <a:pt x="3615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017F4281-CD7C-0759-E1E9-CCB6F6A46E8F}"/>
                  </a:ext>
                </a:extLst>
              </p:cNvPr>
              <p:cNvSpPr/>
              <p:nvPr/>
            </p:nvSpPr>
            <p:spPr>
              <a:xfrm rot="13587761">
                <a:off x="4926534" y="3491952"/>
                <a:ext cx="1258356" cy="591512"/>
              </a:xfrm>
              <a:custGeom>
                <a:avLst/>
                <a:gdLst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2195" h="541091">
                    <a:moveTo>
                      <a:pt x="1062195" y="534418"/>
                    </a:moveTo>
                    <a:lnTo>
                      <a:pt x="1030365" y="541091"/>
                    </a:lnTo>
                    <a:lnTo>
                      <a:pt x="0" y="541091"/>
                    </a:lnTo>
                    <a:cubicBezTo>
                      <a:pt x="178131" y="360727"/>
                      <a:pt x="136110" y="357977"/>
                      <a:pt x="534393" y="0"/>
                    </a:cubicBezTo>
                    <a:cubicBezTo>
                      <a:pt x="896687" y="407497"/>
                      <a:pt x="902466" y="354898"/>
                      <a:pt x="1062195" y="534418"/>
                    </a:cubicBezTo>
                    <a:close/>
                  </a:path>
                </a:pathLst>
              </a:custGeom>
              <a:gradFill>
                <a:gsLst>
                  <a:gs pos="88000">
                    <a:srgbClr val="D1D1D1"/>
                  </a:gs>
                  <a:gs pos="48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  <a:alpha val="8400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38100" dist="25400" dir="72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082EF64-42F4-C412-981A-1C7C841CBE85}"/>
                </a:ext>
              </a:extLst>
            </p:cNvPr>
            <p:cNvSpPr txBox="1"/>
            <p:nvPr/>
          </p:nvSpPr>
          <p:spPr>
            <a:xfrm>
              <a:off x="4300292" y="3674353"/>
              <a:ext cx="2967241" cy="3434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>
                <a:lnSpc>
                  <a:spcPts val="1650"/>
                </a:lnSpc>
              </a:pPr>
              <a:r>
                <a:rPr lang="en-US" altLang="zh-CN" sz="1100" b="0">
                  <a:solidFill>
                    <a:srgbClr val="A626A4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print</a:t>
              </a:r>
              <a:r>
                <a:rPr lang="en-US" altLang="zh-CN" sz="1100" b="0">
                  <a:solidFill>
                    <a:srgbClr val="383A4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(</a:t>
              </a:r>
              <a:r>
                <a:rPr lang="en-US" altLang="zh-CN" sz="1100" b="0">
                  <a:solidFill>
                    <a:srgbClr val="50A14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"=== </a:t>
              </a:r>
              <a:r>
                <a:rPr lang="zh-CN" altLang="en-US" sz="1100" b="0">
                  <a:solidFill>
                    <a:srgbClr val="50A14F"/>
                  </a:solidFill>
                  <a:effectLst/>
                  <a:latin typeface="Fira Code" panose="020B0809050000020004" pitchFamily="49" charset="0"/>
                </a:rPr>
                <a:t>披萨成本计算 </a:t>
              </a:r>
              <a:r>
                <a:rPr lang="en-US" altLang="zh-CN" sz="1100" b="0">
                  <a:solidFill>
                    <a:srgbClr val="50A14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==="</a:t>
              </a:r>
              <a:r>
                <a:rPr lang="en-US" altLang="zh-CN" sz="1100" b="0">
                  <a:solidFill>
                    <a:srgbClr val="383A4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  <a:endParaRPr lang="zh-CN" altLang="en-US" sz="1100" b="0">
                <a:solidFill>
                  <a:srgbClr val="0F1115"/>
                </a:solidFill>
                <a:effectLst/>
                <a:latin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</a:t>
              </a: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</a:rPr>
                <a:t>披萨尺寸（半径，厘米）</a:t>
              </a:r>
              <a:endParaRPr lang="zh-CN" altLang="en-US" sz="1100" b="0">
                <a:solidFill>
                  <a:srgbClr val="0F1115"/>
                </a:solidFill>
                <a:effectLst/>
                <a:latin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s_radius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B76B01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10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</a:t>
              </a: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</a:rPr>
                <a:t>小号披萨</a:t>
              </a:r>
              <a:endParaRPr lang="zh-CN" altLang="en-US" sz="1100" b="0">
                <a:solidFill>
                  <a:srgbClr val="0F1115"/>
                </a:solidFill>
                <a:effectLst/>
                <a:latin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m_radius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B76B0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15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</a:t>
              </a: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</a:rPr>
                <a:t>中号披萨  </a:t>
              </a:r>
              <a:endParaRPr lang="zh-CN" altLang="en-US" sz="1100" b="0">
                <a:solidFill>
                  <a:srgbClr val="0F1115"/>
                </a:solidFill>
                <a:effectLst/>
                <a:latin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l_radius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B76B0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20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</a:t>
              </a: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</a:rPr>
                <a:t>大号披萨</a:t>
              </a:r>
              <a:endParaRPr lang="zh-CN" altLang="en-US" sz="1100" b="0">
                <a:solidFill>
                  <a:srgbClr val="0F1115"/>
                </a:solidFill>
                <a:effectLst/>
                <a:latin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zh-CN" altLang="en-US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</a:rPr>
                <a:t>    </a:t>
              </a: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</a:rPr>
                <a:t>计算面积</a:t>
              </a:r>
              <a:endParaRPr lang="zh-CN" altLang="en-US" sz="1100" b="0">
                <a:solidFill>
                  <a:srgbClr val="0F1115"/>
                </a:solidFill>
                <a:effectLst/>
                <a:latin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small_area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circle_area</a:t>
              </a:r>
              <a:r>
                <a:rPr lang="en-US" altLang="zh-CN" sz="1100" b="0">
                  <a:solidFill>
                    <a:srgbClr val="383A4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(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s_radius</a:t>
              </a:r>
              <a:r>
                <a:rPr lang="en-US" altLang="zh-CN" sz="1100" b="0">
                  <a:solidFill>
                    <a:srgbClr val="383A4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  <a:endParaRPr lang="en-US" altLang="zh-CN" sz="1100" b="0">
                <a:solidFill>
                  <a:srgbClr val="0F11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medium_area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circle_area</a:t>
              </a:r>
              <a:r>
                <a:rPr lang="en-US" altLang="zh-CN" sz="1100" b="0">
                  <a:solidFill>
                    <a:srgbClr val="383A4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(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m_radius</a:t>
              </a:r>
              <a:r>
                <a:rPr lang="en-US" altLang="zh-CN" sz="1100" b="0">
                  <a:solidFill>
                    <a:srgbClr val="383A4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</a:t>
              </a: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large_area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circle_area</a:t>
              </a:r>
              <a:r>
                <a:rPr lang="en-US" altLang="zh-CN" sz="1100" b="0">
                  <a:solidFill>
                    <a:srgbClr val="383A4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(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l_radius</a:t>
              </a:r>
              <a:r>
                <a:rPr lang="en-US" altLang="zh-CN" sz="1100" b="0">
                  <a:solidFill>
                    <a:srgbClr val="383A4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  <a:endParaRPr lang="en-US" altLang="zh-CN" sz="1100" b="0">
                <a:solidFill>
                  <a:srgbClr val="0F11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   </a:t>
              </a: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</a:rPr>
                <a:t>成本计算（面饼</a:t>
              </a: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+</a:t>
              </a:r>
              <a:r>
                <a:rPr lang="zh-CN" altLang="en-US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</a:rPr>
                <a:t>配料：</a:t>
              </a: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0.05</a:t>
              </a:r>
              <a:r>
                <a:rPr lang="zh-CN" altLang="en-US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</a:rPr>
                <a:t>元</a:t>
              </a:r>
              <a:r>
                <a:rPr lang="en-US" altLang="zh-CN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/</a:t>
              </a:r>
              <a:r>
                <a:rPr lang="zh-CN" altLang="en-US" sz="1100" b="0">
                  <a:solidFill>
                    <a:srgbClr val="A0A1A7"/>
                  </a:solidFill>
                  <a:effectLst/>
                  <a:latin typeface="Fira Code" panose="020B0809050000020004" pitchFamily="49" charset="0"/>
                </a:rPr>
                <a:t>平方厘米）</a:t>
              </a:r>
              <a:endParaRPr lang="zh-CN" altLang="en-US" sz="1100" b="0">
                <a:solidFill>
                  <a:srgbClr val="0F1115"/>
                </a:solidFill>
                <a:effectLst/>
                <a:latin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small_cost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small_area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*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B76B01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0.05</a:t>
              </a:r>
              <a:endParaRPr lang="en-US" altLang="zh-CN" sz="1100" b="0">
                <a:solidFill>
                  <a:srgbClr val="0F11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medium_cost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medium_area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*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B76B01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0.05</a:t>
              </a:r>
              <a:endParaRPr lang="en-US" altLang="zh-CN" sz="1100" b="0">
                <a:solidFill>
                  <a:srgbClr val="0F111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large_cost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large_area </a:t>
              </a:r>
              <a:r>
                <a:rPr lang="en-US" altLang="zh-CN" sz="1100" b="0">
                  <a:solidFill>
                    <a:srgbClr val="4078F2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*</a:t>
              </a:r>
              <a:r>
                <a:rPr lang="en-US" altLang="zh-CN" sz="1100" b="0">
                  <a:solidFill>
                    <a:srgbClr val="0F11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B76B01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0.05</a:t>
              </a:r>
            </a:p>
            <a:p>
              <a:pPr algn="l" latinLnBrk="1">
                <a:lnSpc>
                  <a:spcPts val="1650"/>
                </a:lnSpc>
                <a:buNone/>
              </a:pPr>
              <a:r>
                <a:rPr lang="en-US" altLang="zh-CN" sz="11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......</a:t>
              </a:r>
              <a:endParaRPr lang="en-US" altLang="zh-CN" sz="1100" b="0">
                <a:solidFill>
                  <a:schemeClr val="tx1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endParaRPr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F678F06-4EDC-CBA6-5B3A-E599073C3EFF}"/>
              </a:ext>
            </a:extLst>
          </p:cNvPr>
          <p:cNvSpPr/>
          <p:nvPr/>
        </p:nvSpPr>
        <p:spPr>
          <a:xfrm>
            <a:off x="8493013" y="3550760"/>
            <a:ext cx="990070" cy="185531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FCE644B-A5CF-D4E9-449A-4F38D07CD509}"/>
              </a:ext>
            </a:extLst>
          </p:cNvPr>
          <p:cNvSpPr/>
          <p:nvPr/>
        </p:nvSpPr>
        <p:spPr>
          <a:xfrm>
            <a:off x="8572526" y="3769969"/>
            <a:ext cx="990070" cy="185531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C88FE1B-4338-FABE-4A67-38BFDC7E803F}"/>
              </a:ext>
            </a:extLst>
          </p:cNvPr>
          <p:cNvSpPr/>
          <p:nvPr/>
        </p:nvSpPr>
        <p:spPr>
          <a:xfrm>
            <a:off x="8493013" y="3989178"/>
            <a:ext cx="990070" cy="185531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81DD7D-9185-7F6D-3A33-DF7BF0F8DB17}"/>
              </a:ext>
            </a:extLst>
          </p:cNvPr>
          <p:cNvSpPr txBox="1"/>
          <p:nvPr/>
        </p:nvSpPr>
        <p:spPr>
          <a:xfrm>
            <a:off x="2347742" y="5776086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circle_fun.py</a:t>
            </a:r>
            <a:endParaRPr lang="zh-CN" altLang="en-US" sz="14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21DB2BE-A2E6-7A9D-E027-27534603F6FE}"/>
              </a:ext>
            </a:extLst>
          </p:cNvPr>
          <p:cNvSpPr txBox="1"/>
          <p:nvPr/>
        </p:nvSpPr>
        <p:spPr>
          <a:xfrm>
            <a:off x="8592404" y="592096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main.py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1668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20000" decel="8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8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9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20000" decel="8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14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15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6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accel="20000" decel="8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22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23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24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accel="20000" decel="8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28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29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30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 animBg="1"/>
      <p:bldP spid="16" grpId="0" animBg="1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1FACA-667B-C1A9-C404-D721AC90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EC1D9F-8781-1E37-CC1B-FA7C2F74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1955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</a:t>
            </a:r>
            <a:r>
              <a:rPr lang="zh-CN" altLang="en-US"/>
              <a:t>模块</a:t>
            </a:r>
            <a:r>
              <a:rPr lang="en-US" altLang="zh-CN"/>
              <a:t>(module)</a:t>
            </a:r>
            <a:r>
              <a:rPr lang="zh-CN" altLang="en-US"/>
              <a:t>：一个</a:t>
            </a:r>
            <a:r>
              <a:rPr lang="en-US" altLang="zh-CN" b="1"/>
              <a:t>.py</a:t>
            </a:r>
            <a:r>
              <a:rPr lang="zh-CN" altLang="en-US"/>
              <a:t>文件就是一个模块，模块是</a:t>
            </a:r>
            <a:r>
              <a:rPr lang="en-US" altLang="zh-CN"/>
              <a:t>Python</a:t>
            </a:r>
            <a:r>
              <a:rPr lang="zh-CN" altLang="en-US"/>
              <a:t>程序的基本组织单位。在模块中可以定义变量、函数、类，以及可执行的代码。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67F271D-7034-755A-D420-EA9204FF0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模块</a:t>
            </a:r>
          </a:p>
        </p:txBody>
      </p:sp>
      <p:grpSp>
        <p:nvGrpSpPr>
          <p:cNvPr id="37" name="!!组合 3">
            <a:extLst>
              <a:ext uri="{FF2B5EF4-FFF2-40B4-BE49-F238E27FC236}">
                <a16:creationId xmlns:a16="http://schemas.microsoft.com/office/drawing/2014/main" id="{58CFEDB3-3EB9-3B69-97A0-6998A5CC3FDA}"/>
              </a:ext>
            </a:extLst>
          </p:cNvPr>
          <p:cNvGrpSpPr/>
          <p:nvPr/>
        </p:nvGrpSpPr>
        <p:grpSpPr>
          <a:xfrm>
            <a:off x="4100415" y="2107379"/>
            <a:ext cx="3285100" cy="3794379"/>
            <a:chOff x="4313331" y="3230219"/>
            <a:chExt cx="2967241" cy="3442047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5C0E7DD-E6C8-F030-F205-661A60FE3615}"/>
                </a:ext>
              </a:extLst>
            </p:cNvPr>
            <p:cNvGrpSpPr/>
            <p:nvPr/>
          </p:nvGrpSpPr>
          <p:grpSpPr>
            <a:xfrm>
              <a:off x="4313331" y="3230219"/>
              <a:ext cx="2967241" cy="3442047"/>
              <a:chOff x="2883349" y="3111062"/>
              <a:chExt cx="3280482" cy="3622047"/>
            </a:xfrm>
          </p:grpSpPr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A68492F4-36E1-25BA-D2C0-026E7AFB409F}"/>
                  </a:ext>
                </a:extLst>
              </p:cNvPr>
              <p:cNvSpPr/>
              <p:nvPr/>
            </p:nvSpPr>
            <p:spPr>
              <a:xfrm>
                <a:off x="2883349" y="3111062"/>
                <a:ext cx="3280482" cy="3622047"/>
              </a:xfrm>
              <a:custGeom>
                <a:avLst/>
                <a:gdLst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6" fmla="*/ 0 w 3069020"/>
                  <a:gd name="connsiteY6" fmla="*/ 0 h 3510455"/>
                  <a:gd name="connsiteX0" fmla="*/ 25708 w 3094728"/>
                  <a:gd name="connsiteY0" fmla="*/ 0 h 3510455"/>
                  <a:gd name="connsiteX1" fmla="*/ 2312219 w 3094728"/>
                  <a:gd name="connsiteY1" fmla="*/ 0 h 3510455"/>
                  <a:gd name="connsiteX2" fmla="*/ 2341585 w 3094728"/>
                  <a:gd name="connsiteY2" fmla="*/ 15324 h 3510455"/>
                  <a:gd name="connsiteX3" fmla="*/ 3094728 w 3094728"/>
                  <a:gd name="connsiteY3" fmla="*/ 731145 h 3510455"/>
                  <a:gd name="connsiteX4" fmla="*/ 3094728 w 3094728"/>
                  <a:gd name="connsiteY4" fmla="*/ 3510455 h 3510455"/>
                  <a:gd name="connsiteX5" fmla="*/ 25708 w 3094728"/>
                  <a:gd name="connsiteY5" fmla="*/ 3510455 h 3510455"/>
                  <a:gd name="connsiteX6" fmla="*/ 25708 w 3094728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5173" h="3510455">
                    <a:moveTo>
                      <a:pt x="36153" y="0"/>
                    </a:moveTo>
                    <a:cubicBezTo>
                      <a:pt x="904373" y="50847"/>
                      <a:pt x="1560494" y="0"/>
                      <a:pt x="2322664" y="0"/>
                    </a:cubicBezTo>
                    <a:lnTo>
                      <a:pt x="2352030" y="15324"/>
                    </a:lnTo>
                    <a:lnTo>
                      <a:pt x="3105173" y="731145"/>
                    </a:lnTo>
                    <a:cubicBezTo>
                      <a:pt x="3105173" y="1657582"/>
                      <a:pt x="3018404" y="2541645"/>
                      <a:pt x="3105173" y="3510455"/>
                    </a:cubicBezTo>
                    <a:cubicBezTo>
                      <a:pt x="2053244" y="3459608"/>
                      <a:pt x="1117006" y="3459608"/>
                      <a:pt x="7230" y="3510455"/>
                    </a:cubicBezTo>
                    <a:cubicBezTo>
                      <a:pt x="7230" y="2340303"/>
                      <a:pt x="-21693" y="1170152"/>
                      <a:pt x="3615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B46FA3B2-59B4-A00F-225B-204EED563EB9}"/>
                  </a:ext>
                </a:extLst>
              </p:cNvPr>
              <p:cNvSpPr/>
              <p:nvPr/>
            </p:nvSpPr>
            <p:spPr>
              <a:xfrm rot="13408035">
                <a:off x="5027214" y="3419467"/>
                <a:ext cx="1062195" cy="541091"/>
              </a:xfrm>
              <a:custGeom>
                <a:avLst/>
                <a:gdLst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2195" h="541091">
                    <a:moveTo>
                      <a:pt x="1062195" y="534418"/>
                    </a:moveTo>
                    <a:lnTo>
                      <a:pt x="1030365" y="541091"/>
                    </a:lnTo>
                    <a:lnTo>
                      <a:pt x="0" y="541091"/>
                    </a:lnTo>
                    <a:cubicBezTo>
                      <a:pt x="178131" y="360727"/>
                      <a:pt x="136110" y="357977"/>
                      <a:pt x="534393" y="0"/>
                    </a:cubicBezTo>
                    <a:cubicBezTo>
                      <a:pt x="896687" y="407497"/>
                      <a:pt x="902466" y="354898"/>
                      <a:pt x="1062195" y="534418"/>
                    </a:cubicBezTo>
                    <a:close/>
                  </a:path>
                </a:pathLst>
              </a:custGeom>
              <a:gradFill>
                <a:gsLst>
                  <a:gs pos="88000">
                    <a:srgbClr val="D1D1D1"/>
                  </a:gs>
                  <a:gs pos="48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  <a:alpha val="8400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38100" dist="25400" dir="72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779DB22-9FF9-CF43-444C-72B5415C0296}"/>
                </a:ext>
              </a:extLst>
            </p:cNvPr>
            <p:cNvSpPr txBox="1"/>
            <p:nvPr/>
          </p:nvSpPr>
          <p:spPr>
            <a:xfrm>
              <a:off x="4532118" y="3486871"/>
              <a:ext cx="2463499" cy="2598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chemeClr val="bg1">
                      <a:lumMod val="65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chemeClr val="bg1">
                      <a:lumMod val="65000"/>
                    </a:schemeClr>
                  </a:solidFill>
                  <a:latin typeface="Fira Code" panose="020B0809050000020004" pitchFamily="49" charset="0"/>
                </a:rPr>
                <a:t>根据半径计算圆的面积</a:t>
              </a:r>
              <a:endParaRPr lang="en-US" altLang="zh-CN" sz="1100">
                <a:solidFill>
                  <a:schemeClr val="bg1">
                    <a:lumMod val="65000"/>
                  </a:schemeClr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A626A4"/>
                  </a:solidFill>
                  <a:effectLst/>
                  <a:latin typeface="Fira Code" panose="020B0809050000020004" pitchFamily="49" charset="0"/>
                </a:rPr>
                <a:t>def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4078F2"/>
                  </a:solidFill>
                  <a:effectLst/>
                  <a:latin typeface="Fira Code" panose="020B0809050000020004" pitchFamily="49" charset="0"/>
                </a:rPr>
                <a:t>circle_area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</a:t>
              </a:r>
              <a:b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area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area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chemeClr val="bg1">
                      <a:lumMod val="65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chemeClr val="bg1">
                      <a:lumMod val="65000"/>
                    </a:schemeClr>
                  </a:solidFill>
                  <a:effectLst/>
                  <a:latin typeface="Fira Code" panose="020B0809050000020004" pitchFamily="49" charset="0"/>
                </a:rPr>
                <a:t>根据半径计算圆的周长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A626A4"/>
                  </a:solidFill>
                  <a:effectLst/>
                  <a:latin typeface="Fira Code" panose="020B0809050000020004" pitchFamily="49" charset="0"/>
                </a:rPr>
                <a:t>def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100">
                  <a:solidFill>
                    <a:srgbClr val="4078F2"/>
                  </a:solidFill>
                  <a:effectLst/>
                  <a:latin typeface="Fira Code" panose="020B0809050000020004" pitchFamily="49" charset="0"/>
                </a:rPr>
                <a:t>circle_</a:t>
              </a:r>
              <a:r>
                <a:rPr lang="en-US" altLang="zh-CN" sz="1100">
                  <a:solidFill>
                    <a:srgbClr val="4078F2"/>
                  </a:solidFill>
                  <a:latin typeface="Fira Code" panose="020B0809050000020004" pitchFamily="49" charset="0"/>
                </a:rPr>
                <a:t>len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</a:t>
              </a:r>
              <a:b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len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b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100">
                  <a:solidFill>
                    <a:srgbClr val="000000"/>
                  </a:solidFill>
                  <a:latin typeface="Fira Code" panose="020B0809050000020004" pitchFamily="49" charset="0"/>
                </a:rPr>
                <a:t>len</a:t>
              </a:r>
              <a:endParaRPr lang="en-US" altLang="zh-CN" sz="1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20ED043C-66BD-5AF0-8106-7135D0636A6D}"/>
              </a:ext>
            </a:extLst>
          </p:cNvPr>
          <p:cNvSpPr txBox="1"/>
          <p:nvPr/>
        </p:nvSpPr>
        <p:spPr>
          <a:xfrm>
            <a:off x="5130698" y="6012540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circle_fun.py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4674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791A-9330-7497-D654-AF071C061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组合 3">
            <a:extLst>
              <a:ext uri="{FF2B5EF4-FFF2-40B4-BE49-F238E27FC236}">
                <a16:creationId xmlns:a16="http://schemas.microsoft.com/office/drawing/2014/main" id="{BB6B3E0E-9FE7-3D22-217E-A176EE3B9918}"/>
              </a:ext>
            </a:extLst>
          </p:cNvPr>
          <p:cNvGrpSpPr/>
          <p:nvPr/>
        </p:nvGrpSpPr>
        <p:grpSpPr>
          <a:xfrm>
            <a:off x="1860795" y="5125955"/>
            <a:ext cx="657115" cy="281921"/>
            <a:chOff x="4313331" y="3230219"/>
            <a:chExt cx="2967241" cy="344204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5279185-665B-FC86-99B0-0ED4F9DDAD68}"/>
                </a:ext>
              </a:extLst>
            </p:cNvPr>
            <p:cNvGrpSpPr/>
            <p:nvPr/>
          </p:nvGrpSpPr>
          <p:grpSpPr>
            <a:xfrm>
              <a:off x="4313331" y="3230219"/>
              <a:ext cx="2967241" cy="3442047"/>
              <a:chOff x="2883349" y="3111062"/>
              <a:chExt cx="3280482" cy="3622047"/>
            </a:xfrm>
          </p:grpSpPr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07FAFDFD-48FF-FC38-F140-5EAC6A75B093}"/>
                  </a:ext>
                </a:extLst>
              </p:cNvPr>
              <p:cNvSpPr/>
              <p:nvPr/>
            </p:nvSpPr>
            <p:spPr>
              <a:xfrm>
                <a:off x="2883349" y="3111062"/>
                <a:ext cx="3280482" cy="3622047"/>
              </a:xfrm>
              <a:custGeom>
                <a:avLst/>
                <a:gdLst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6" fmla="*/ 0 w 3069020"/>
                  <a:gd name="connsiteY6" fmla="*/ 0 h 3510455"/>
                  <a:gd name="connsiteX0" fmla="*/ 25708 w 3094728"/>
                  <a:gd name="connsiteY0" fmla="*/ 0 h 3510455"/>
                  <a:gd name="connsiteX1" fmla="*/ 2312219 w 3094728"/>
                  <a:gd name="connsiteY1" fmla="*/ 0 h 3510455"/>
                  <a:gd name="connsiteX2" fmla="*/ 2341585 w 3094728"/>
                  <a:gd name="connsiteY2" fmla="*/ 15324 h 3510455"/>
                  <a:gd name="connsiteX3" fmla="*/ 3094728 w 3094728"/>
                  <a:gd name="connsiteY3" fmla="*/ 731145 h 3510455"/>
                  <a:gd name="connsiteX4" fmla="*/ 3094728 w 3094728"/>
                  <a:gd name="connsiteY4" fmla="*/ 3510455 h 3510455"/>
                  <a:gd name="connsiteX5" fmla="*/ 25708 w 3094728"/>
                  <a:gd name="connsiteY5" fmla="*/ 3510455 h 3510455"/>
                  <a:gd name="connsiteX6" fmla="*/ 25708 w 3094728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5173" h="3510455">
                    <a:moveTo>
                      <a:pt x="36153" y="0"/>
                    </a:moveTo>
                    <a:cubicBezTo>
                      <a:pt x="904373" y="50847"/>
                      <a:pt x="1560494" y="0"/>
                      <a:pt x="2322664" y="0"/>
                    </a:cubicBezTo>
                    <a:lnTo>
                      <a:pt x="2352030" y="15324"/>
                    </a:lnTo>
                    <a:lnTo>
                      <a:pt x="3105173" y="731145"/>
                    </a:lnTo>
                    <a:cubicBezTo>
                      <a:pt x="3105173" y="1657582"/>
                      <a:pt x="3018404" y="2541645"/>
                      <a:pt x="3105173" y="3510455"/>
                    </a:cubicBezTo>
                    <a:cubicBezTo>
                      <a:pt x="2053244" y="3459608"/>
                      <a:pt x="1117006" y="3459608"/>
                      <a:pt x="7230" y="3510455"/>
                    </a:cubicBezTo>
                    <a:cubicBezTo>
                      <a:pt x="7230" y="2340303"/>
                      <a:pt x="-21693" y="1170152"/>
                      <a:pt x="3615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400"/>
              </a:p>
            </p:txBody>
          </p:sp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85C0E4C2-575D-E2FD-7EA1-2254B34E4911}"/>
                  </a:ext>
                </a:extLst>
              </p:cNvPr>
              <p:cNvSpPr/>
              <p:nvPr/>
            </p:nvSpPr>
            <p:spPr>
              <a:xfrm rot="13408035">
                <a:off x="5027214" y="3419467"/>
                <a:ext cx="1062195" cy="541091"/>
              </a:xfrm>
              <a:custGeom>
                <a:avLst/>
                <a:gdLst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2195" h="541091">
                    <a:moveTo>
                      <a:pt x="1062195" y="534418"/>
                    </a:moveTo>
                    <a:lnTo>
                      <a:pt x="1030365" y="541091"/>
                    </a:lnTo>
                    <a:lnTo>
                      <a:pt x="0" y="541091"/>
                    </a:lnTo>
                    <a:cubicBezTo>
                      <a:pt x="178131" y="360727"/>
                      <a:pt x="136110" y="357977"/>
                      <a:pt x="534393" y="0"/>
                    </a:cubicBezTo>
                    <a:cubicBezTo>
                      <a:pt x="896687" y="407497"/>
                      <a:pt x="902466" y="354898"/>
                      <a:pt x="1062195" y="534418"/>
                    </a:cubicBezTo>
                    <a:close/>
                  </a:path>
                </a:pathLst>
              </a:custGeom>
              <a:gradFill>
                <a:gsLst>
                  <a:gs pos="88000">
                    <a:srgbClr val="D1D1D1"/>
                  </a:gs>
                  <a:gs pos="48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  <a:alpha val="8400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38100" dist="25400" dir="72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400"/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61621B8-D8BD-F5B7-FBD5-1F7B299AA80D}"/>
                </a:ext>
              </a:extLst>
            </p:cNvPr>
            <p:cNvSpPr txBox="1"/>
            <p:nvPr/>
          </p:nvSpPr>
          <p:spPr>
            <a:xfrm>
              <a:off x="4532118" y="3486871"/>
              <a:ext cx="2463499" cy="312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00">
                  <a:solidFill>
                    <a:schemeClr val="bg1">
                      <a:lumMod val="65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0">
                  <a:solidFill>
                    <a:schemeClr val="bg1">
                      <a:lumMod val="65000"/>
                    </a:schemeClr>
                  </a:solidFill>
                  <a:latin typeface="Fira Code" panose="020B0809050000020004" pitchFamily="49" charset="0"/>
                </a:rPr>
                <a:t>根据半径计算圆的面积</a:t>
              </a:r>
              <a:endParaRPr lang="en-US" altLang="zh-CN" sz="100">
                <a:solidFill>
                  <a:schemeClr val="bg1">
                    <a:lumMod val="65000"/>
                  </a:schemeClr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00">
                  <a:solidFill>
                    <a:srgbClr val="A626A4"/>
                  </a:solidFill>
                  <a:effectLst/>
                  <a:latin typeface="Fira Code" panose="020B0809050000020004" pitchFamily="49" charset="0"/>
                </a:rPr>
                <a:t>def</a:t>
              </a:r>
              <a:r>
                <a:rPr lang="en-US" altLang="zh-CN" sz="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00">
                  <a:solidFill>
                    <a:srgbClr val="4078F2"/>
                  </a:solidFill>
                  <a:effectLst/>
                  <a:latin typeface="Fira Code" panose="020B0809050000020004" pitchFamily="49" charset="0"/>
                </a:rPr>
                <a:t>circle_area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</a:t>
              </a:r>
              <a:br>
                <a:rPr lang="en-US" altLang="zh-CN" sz="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area 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 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b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area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">
                  <a:solidFill>
                    <a:schemeClr val="bg1">
                      <a:lumMod val="65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00">
                  <a:solidFill>
                    <a:schemeClr val="bg1">
                      <a:lumMod val="65000"/>
                    </a:schemeClr>
                  </a:solidFill>
                  <a:effectLst/>
                  <a:latin typeface="Fira Code" panose="020B0809050000020004" pitchFamily="49" charset="0"/>
                </a:rPr>
                <a:t>根据半径计算圆的周长</a:t>
              </a:r>
              <a:b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">
                  <a:solidFill>
                    <a:srgbClr val="A626A4"/>
                  </a:solidFill>
                  <a:effectLst/>
                  <a:latin typeface="Fira Code" panose="020B0809050000020004" pitchFamily="49" charset="0"/>
                </a:rPr>
                <a:t>def</a:t>
              </a:r>
              <a:r>
                <a:rPr lang="en-US" altLang="zh-CN" sz="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00">
                  <a:solidFill>
                    <a:srgbClr val="4078F2"/>
                  </a:solidFill>
                  <a:effectLst/>
                  <a:latin typeface="Fira Code" panose="020B0809050000020004" pitchFamily="49" charset="0"/>
                </a:rPr>
                <a:t>circle_perimeter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):</a:t>
              </a:r>
              <a:b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</a:t>
              </a:r>
              <a:br>
                <a:rPr lang="en-US" altLang="zh-CN" sz="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perimeter 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= </a:t>
              </a:r>
              <a:r>
                <a:rPr lang="en-US" altLang="zh-CN" sz="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2 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pi </a:t>
              </a:r>
              <a:r>
                <a:rPr lang="en-US" altLang="zh-CN" sz="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r</a:t>
              </a:r>
              <a:b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return </a:t>
              </a:r>
              <a:r>
                <a:rPr lang="en-US" altLang="zh-CN" sz="100">
                  <a:solidFill>
                    <a:srgbClr val="000000"/>
                  </a:solidFill>
                  <a:effectLst/>
                  <a:latin typeface="Fira Code" panose="020B0809050000020004" pitchFamily="49" charset="0"/>
                </a:rPr>
                <a:t>perimeter</a:t>
              </a:r>
              <a:endParaRPr lang="en-US" altLang="zh-CN" sz="1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</p:grp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316FCCC-6FE2-BB5F-EFC5-54D2A9D9606C}"/>
              </a:ext>
            </a:extLst>
          </p:cNvPr>
          <p:cNvSpPr/>
          <p:nvPr/>
        </p:nvSpPr>
        <p:spPr>
          <a:xfrm>
            <a:off x="1219200" y="2554129"/>
            <a:ext cx="3730487" cy="3100639"/>
          </a:xfrm>
          <a:prstGeom prst="roundRect">
            <a:avLst>
              <a:gd name="adj" fmla="val 2349"/>
            </a:avLst>
          </a:prstGeom>
          <a:solidFill>
            <a:srgbClr val="F2F2F2">
              <a:alpha val="50196"/>
            </a:srgb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D5735D-2944-3E99-2914-EA0C007D5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1955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</a:t>
            </a:r>
            <a:r>
              <a:rPr lang="zh-CN" altLang="en-US"/>
              <a:t>模块</a:t>
            </a:r>
            <a:r>
              <a:rPr lang="en-US" altLang="zh-CN"/>
              <a:t>(module)</a:t>
            </a:r>
            <a:r>
              <a:rPr lang="zh-CN" altLang="en-US"/>
              <a:t>：一个</a:t>
            </a:r>
            <a:r>
              <a:rPr lang="en-US" altLang="zh-CN" b="1"/>
              <a:t>.py</a:t>
            </a:r>
            <a:r>
              <a:rPr lang="zh-CN" altLang="en-US"/>
              <a:t>文件就是一个模块，模块是</a:t>
            </a:r>
            <a:r>
              <a:rPr lang="en-US" altLang="zh-CN"/>
              <a:t>Python</a:t>
            </a:r>
            <a:r>
              <a:rPr lang="zh-CN" altLang="en-US"/>
              <a:t>程序的基本组织单位。在模块中可以定义变量、函数、类，以及可执行的代码。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ACDAF70-D202-BA8E-62E4-3D86E5D3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模块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D158981-744D-6B16-2609-3F3C5E10A0ED}"/>
              </a:ext>
            </a:extLst>
          </p:cNvPr>
          <p:cNvSpPr/>
          <p:nvPr/>
        </p:nvSpPr>
        <p:spPr>
          <a:xfrm>
            <a:off x="1335684" y="2729126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math(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数学计算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1EBA4E6-54B9-1F11-97AD-C1F1E0A9C7F5}"/>
              </a:ext>
            </a:extLst>
          </p:cNvPr>
          <p:cNvSpPr/>
          <p:nvPr/>
        </p:nvSpPr>
        <p:spPr>
          <a:xfrm>
            <a:off x="1335683" y="3312221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os(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操作系统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E52D969-0213-308D-E7F6-166665DBC7E5}"/>
              </a:ext>
            </a:extLst>
          </p:cNvPr>
          <p:cNvSpPr/>
          <p:nvPr/>
        </p:nvSpPr>
        <p:spPr>
          <a:xfrm>
            <a:off x="1335684" y="3895316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datetime(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日期时间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4582554-C4CC-92E8-E120-ADF8048CBE53}"/>
              </a:ext>
            </a:extLst>
          </p:cNvPr>
          <p:cNvSpPr/>
          <p:nvPr/>
        </p:nvSpPr>
        <p:spPr>
          <a:xfrm>
            <a:off x="1335683" y="4478411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re(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正则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2DA174F-E64D-6F15-A1EB-149B9DFF659D}"/>
              </a:ext>
            </a:extLst>
          </p:cNvPr>
          <p:cNvSpPr/>
          <p:nvPr/>
        </p:nvSpPr>
        <p:spPr>
          <a:xfrm>
            <a:off x="3177736" y="2729126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random(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随机数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D6EC2A9-F400-D26C-B0A9-2DB1EF97F801}"/>
              </a:ext>
            </a:extLst>
          </p:cNvPr>
          <p:cNvSpPr/>
          <p:nvPr/>
        </p:nvSpPr>
        <p:spPr>
          <a:xfrm>
            <a:off x="3177735" y="3312221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sys(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系统参数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34B94B7-42EC-DB69-C773-C5B235604644}"/>
              </a:ext>
            </a:extLst>
          </p:cNvPr>
          <p:cNvSpPr/>
          <p:nvPr/>
        </p:nvSpPr>
        <p:spPr>
          <a:xfrm>
            <a:off x="3177736" y="3895316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time(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时间访问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6EF13DC-7654-FDFF-6FBA-58A64C1747A1}"/>
              </a:ext>
            </a:extLst>
          </p:cNvPr>
          <p:cNvSpPr/>
          <p:nvPr/>
        </p:nvSpPr>
        <p:spPr>
          <a:xfrm>
            <a:off x="3177735" y="4478411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csv(csv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文件操作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1DF200B-36D2-76BF-2D3A-BB24C6951C9A}"/>
              </a:ext>
            </a:extLst>
          </p:cNvPr>
          <p:cNvSpPr/>
          <p:nvPr/>
        </p:nvSpPr>
        <p:spPr>
          <a:xfrm>
            <a:off x="1335683" y="5057783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50">
              <a:alpha val="20000"/>
            </a:srgb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自定义模块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50D9299-21BF-9F10-A409-4B144E761604}"/>
              </a:ext>
            </a:extLst>
          </p:cNvPr>
          <p:cNvSpPr/>
          <p:nvPr/>
        </p:nvSpPr>
        <p:spPr>
          <a:xfrm>
            <a:off x="3177735" y="5057783"/>
            <a:ext cx="1652681" cy="418266"/>
          </a:xfrm>
          <a:prstGeom prst="roundRect">
            <a:avLst>
              <a:gd name="adj" fmla="val 18622"/>
            </a:avLst>
          </a:prstGeom>
          <a:solidFill>
            <a:srgbClr val="00B050">
              <a:alpha val="20000"/>
            </a:srgb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自定义模块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81865CA-AAEA-0AA1-E811-74B5B76D8CD5}"/>
              </a:ext>
            </a:extLst>
          </p:cNvPr>
          <p:cNvGrpSpPr/>
          <p:nvPr/>
        </p:nvGrpSpPr>
        <p:grpSpPr>
          <a:xfrm>
            <a:off x="7361585" y="2294995"/>
            <a:ext cx="3285100" cy="3794379"/>
            <a:chOff x="4313331" y="3230219"/>
            <a:chExt cx="2967241" cy="3442047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CC0FEDAF-0685-277A-E641-9A5EE4BADC20}"/>
                </a:ext>
              </a:extLst>
            </p:cNvPr>
            <p:cNvGrpSpPr/>
            <p:nvPr/>
          </p:nvGrpSpPr>
          <p:grpSpPr>
            <a:xfrm>
              <a:off x="4313331" y="3230219"/>
              <a:ext cx="2967241" cy="3442047"/>
              <a:chOff x="2883349" y="3111062"/>
              <a:chExt cx="3280482" cy="3622047"/>
            </a:xfrm>
          </p:grpSpPr>
          <p:sp>
            <p:nvSpPr>
              <p:cNvPr id="32" name="任意多边形: 形状 31">
                <a:extLst>
                  <a:ext uri="{FF2B5EF4-FFF2-40B4-BE49-F238E27FC236}">
                    <a16:creationId xmlns:a16="http://schemas.microsoft.com/office/drawing/2014/main" id="{394D4DB6-1FFD-1756-B3C8-026904683813}"/>
                  </a:ext>
                </a:extLst>
              </p:cNvPr>
              <p:cNvSpPr/>
              <p:nvPr/>
            </p:nvSpPr>
            <p:spPr>
              <a:xfrm>
                <a:off x="2883349" y="3111062"/>
                <a:ext cx="3280482" cy="3622047"/>
              </a:xfrm>
              <a:custGeom>
                <a:avLst/>
                <a:gdLst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0" fmla="*/ 0 w 3069020"/>
                  <a:gd name="connsiteY0" fmla="*/ 0 h 3510455"/>
                  <a:gd name="connsiteX1" fmla="*/ 2286511 w 3069020"/>
                  <a:gd name="connsiteY1" fmla="*/ 0 h 3510455"/>
                  <a:gd name="connsiteX2" fmla="*/ 2315877 w 3069020"/>
                  <a:gd name="connsiteY2" fmla="*/ 15324 h 3510455"/>
                  <a:gd name="connsiteX3" fmla="*/ 3069020 w 3069020"/>
                  <a:gd name="connsiteY3" fmla="*/ 731145 h 3510455"/>
                  <a:gd name="connsiteX4" fmla="*/ 3069020 w 3069020"/>
                  <a:gd name="connsiteY4" fmla="*/ 3510455 h 3510455"/>
                  <a:gd name="connsiteX5" fmla="*/ 0 w 3069020"/>
                  <a:gd name="connsiteY5" fmla="*/ 3510455 h 3510455"/>
                  <a:gd name="connsiteX6" fmla="*/ 0 w 3069020"/>
                  <a:gd name="connsiteY6" fmla="*/ 0 h 3510455"/>
                  <a:gd name="connsiteX0" fmla="*/ 25708 w 3094728"/>
                  <a:gd name="connsiteY0" fmla="*/ 0 h 3510455"/>
                  <a:gd name="connsiteX1" fmla="*/ 2312219 w 3094728"/>
                  <a:gd name="connsiteY1" fmla="*/ 0 h 3510455"/>
                  <a:gd name="connsiteX2" fmla="*/ 2341585 w 3094728"/>
                  <a:gd name="connsiteY2" fmla="*/ 15324 h 3510455"/>
                  <a:gd name="connsiteX3" fmla="*/ 3094728 w 3094728"/>
                  <a:gd name="connsiteY3" fmla="*/ 731145 h 3510455"/>
                  <a:gd name="connsiteX4" fmla="*/ 3094728 w 3094728"/>
                  <a:gd name="connsiteY4" fmla="*/ 3510455 h 3510455"/>
                  <a:gd name="connsiteX5" fmla="*/ 25708 w 3094728"/>
                  <a:gd name="connsiteY5" fmla="*/ 3510455 h 3510455"/>
                  <a:gd name="connsiteX6" fmla="*/ 25708 w 3094728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  <a:gd name="connsiteX0" fmla="*/ 36153 w 3105173"/>
                  <a:gd name="connsiteY0" fmla="*/ 0 h 3510455"/>
                  <a:gd name="connsiteX1" fmla="*/ 2322664 w 3105173"/>
                  <a:gd name="connsiteY1" fmla="*/ 0 h 3510455"/>
                  <a:gd name="connsiteX2" fmla="*/ 2352030 w 3105173"/>
                  <a:gd name="connsiteY2" fmla="*/ 15324 h 3510455"/>
                  <a:gd name="connsiteX3" fmla="*/ 3105173 w 3105173"/>
                  <a:gd name="connsiteY3" fmla="*/ 731145 h 3510455"/>
                  <a:gd name="connsiteX4" fmla="*/ 3105173 w 3105173"/>
                  <a:gd name="connsiteY4" fmla="*/ 3510455 h 3510455"/>
                  <a:gd name="connsiteX5" fmla="*/ 7230 w 3105173"/>
                  <a:gd name="connsiteY5" fmla="*/ 3510455 h 3510455"/>
                  <a:gd name="connsiteX6" fmla="*/ 36153 w 3105173"/>
                  <a:gd name="connsiteY6" fmla="*/ 0 h 351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5173" h="3510455">
                    <a:moveTo>
                      <a:pt x="36153" y="0"/>
                    </a:moveTo>
                    <a:cubicBezTo>
                      <a:pt x="904373" y="50847"/>
                      <a:pt x="1560494" y="0"/>
                      <a:pt x="2322664" y="0"/>
                    </a:cubicBezTo>
                    <a:lnTo>
                      <a:pt x="2352030" y="15324"/>
                    </a:lnTo>
                    <a:lnTo>
                      <a:pt x="3105173" y="731145"/>
                    </a:lnTo>
                    <a:cubicBezTo>
                      <a:pt x="3105173" y="1657582"/>
                      <a:pt x="3018404" y="2541645"/>
                      <a:pt x="3105173" y="3510455"/>
                    </a:cubicBezTo>
                    <a:cubicBezTo>
                      <a:pt x="2053244" y="3459608"/>
                      <a:pt x="1117006" y="3459608"/>
                      <a:pt x="7230" y="3510455"/>
                    </a:cubicBezTo>
                    <a:cubicBezTo>
                      <a:pt x="7230" y="2340303"/>
                      <a:pt x="-21693" y="1170152"/>
                      <a:pt x="3615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任意多边形: 形状 32">
                <a:extLst>
                  <a:ext uri="{FF2B5EF4-FFF2-40B4-BE49-F238E27FC236}">
                    <a16:creationId xmlns:a16="http://schemas.microsoft.com/office/drawing/2014/main" id="{E2101DA7-D48A-24BE-14C6-67AD00A07721}"/>
                  </a:ext>
                </a:extLst>
              </p:cNvPr>
              <p:cNvSpPr/>
              <p:nvPr/>
            </p:nvSpPr>
            <p:spPr>
              <a:xfrm rot="13408035">
                <a:off x="5027214" y="3419467"/>
                <a:ext cx="1062195" cy="541091"/>
              </a:xfrm>
              <a:custGeom>
                <a:avLst/>
                <a:gdLst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  <a:gd name="connsiteX0" fmla="*/ 1062195 w 1062195"/>
                  <a:gd name="connsiteY0" fmla="*/ 534418 h 541091"/>
                  <a:gd name="connsiteX1" fmla="*/ 1030365 w 1062195"/>
                  <a:gd name="connsiteY1" fmla="*/ 541091 h 541091"/>
                  <a:gd name="connsiteX2" fmla="*/ 0 w 1062195"/>
                  <a:gd name="connsiteY2" fmla="*/ 541091 h 541091"/>
                  <a:gd name="connsiteX3" fmla="*/ 534393 w 1062195"/>
                  <a:gd name="connsiteY3" fmla="*/ 0 h 541091"/>
                  <a:gd name="connsiteX4" fmla="*/ 1062195 w 1062195"/>
                  <a:gd name="connsiteY4" fmla="*/ 534418 h 541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2195" h="541091">
                    <a:moveTo>
                      <a:pt x="1062195" y="534418"/>
                    </a:moveTo>
                    <a:lnTo>
                      <a:pt x="1030365" y="541091"/>
                    </a:lnTo>
                    <a:lnTo>
                      <a:pt x="0" y="541091"/>
                    </a:lnTo>
                    <a:cubicBezTo>
                      <a:pt x="178131" y="360727"/>
                      <a:pt x="136110" y="357977"/>
                      <a:pt x="534393" y="0"/>
                    </a:cubicBezTo>
                    <a:cubicBezTo>
                      <a:pt x="896687" y="407497"/>
                      <a:pt x="902466" y="354898"/>
                      <a:pt x="1062195" y="534418"/>
                    </a:cubicBezTo>
                    <a:close/>
                  </a:path>
                </a:pathLst>
              </a:custGeom>
              <a:gradFill>
                <a:gsLst>
                  <a:gs pos="88000">
                    <a:srgbClr val="D1D1D1"/>
                  </a:gs>
                  <a:gs pos="48000">
                    <a:schemeClr val="bg1">
                      <a:lumMod val="65000"/>
                    </a:schemeClr>
                  </a:gs>
                  <a:gs pos="0">
                    <a:schemeClr val="bg1">
                      <a:lumMod val="50000"/>
                      <a:alpha val="8400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38100" dist="25400" dir="72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48961CD-33BC-55C9-F733-65178FE3F843}"/>
                </a:ext>
              </a:extLst>
            </p:cNvPr>
            <p:cNvSpPr txBox="1"/>
            <p:nvPr/>
          </p:nvSpPr>
          <p:spPr>
            <a:xfrm>
              <a:off x="4379164" y="3486871"/>
              <a:ext cx="2616453" cy="26471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随机点名器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random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人物列表</a:t>
              </a:r>
              <a:b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names = 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王林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李慕婉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许立国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韩立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涛哥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莫厉海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十三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虎咆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红蝶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天运子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(random.choice(names))</a:t>
              </a:r>
            </a:p>
          </p:txBody>
        </p:sp>
      </p:grp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7143006-9257-5429-F09F-BBD98D88C80D}"/>
              </a:ext>
            </a:extLst>
          </p:cNvPr>
          <p:cNvCxnSpPr/>
          <p:nvPr/>
        </p:nvCxnSpPr>
        <p:spPr>
          <a:xfrm>
            <a:off x="5181600" y="3001617"/>
            <a:ext cx="2007704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157B29A-5C00-C584-D81A-CD0B5410A98F}"/>
              </a:ext>
            </a:extLst>
          </p:cNvPr>
          <p:cNvSpPr txBox="1"/>
          <p:nvPr/>
        </p:nvSpPr>
        <p:spPr>
          <a:xfrm>
            <a:off x="8535897" y="608937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main.py</a:t>
            </a:r>
            <a:endParaRPr lang="zh-CN" altLang="en-US" sz="140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0B20FB0-98DB-F2E9-846F-A63EF12FAEBA}"/>
              </a:ext>
            </a:extLst>
          </p:cNvPr>
          <p:cNvSpPr/>
          <p:nvPr/>
        </p:nvSpPr>
        <p:spPr>
          <a:xfrm>
            <a:off x="7409069" y="2875722"/>
            <a:ext cx="2385391" cy="271670"/>
          </a:xfrm>
          <a:prstGeom prst="roundRect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8F27211-6330-E28C-646E-560AF1155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069" y="2875722"/>
            <a:ext cx="1989799" cy="27167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D6413D7-F8D6-6CC3-28B6-51A05C1A5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470" y="5194247"/>
            <a:ext cx="2546481" cy="29846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9D8440C-CF2F-6847-31B2-B660D0AAD625}"/>
              </a:ext>
            </a:extLst>
          </p:cNvPr>
          <p:cNvSpPr txBox="1"/>
          <p:nvPr/>
        </p:nvSpPr>
        <p:spPr>
          <a:xfrm>
            <a:off x="919135" y="587393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提高代码复用性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031C7B7-939F-D62D-2C3D-173597B99457}"/>
              </a:ext>
            </a:extLst>
          </p:cNvPr>
          <p:cNvSpPr txBox="1"/>
          <p:nvPr/>
        </p:nvSpPr>
        <p:spPr>
          <a:xfrm>
            <a:off x="2993693" y="587393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降低开发门槛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52D61F-0246-4ED5-9525-57798D990B12}"/>
              </a:ext>
            </a:extLst>
          </p:cNvPr>
          <p:cNvSpPr txBox="1"/>
          <p:nvPr/>
        </p:nvSpPr>
        <p:spPr>
          <a:xfrm>
            <a:off x="4830416" y="587393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避免命名冲突</a:t>
            </a:r>
          </a:p>
        </p:txBody>
      </p:sp>
    </p:spTree>
    <p:extLst>
      <p:ext uri="{BB962C8B-B14F-4D97-AF65-F5344CB8AC3E}">
        <p14:creationId xmlns:p14="http://schemas.microsoft.com/office/powerpoint/2010/main" val="860555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accel="20000" decel="8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5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56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57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58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xit" presetSubtype="2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4" grpId="0"/>
      <p:bldP spid="10" grpId="0" animBg="1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DF65C0-0268-6650-A6D9-0EABA9C985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导入模块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自定义模块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软件包（</a:t>
            </a:r>
            <a:r>
              <a:rPr lang="en-US" altLang="zh-CN">
                <a:latin typeface="+mn-lt"/>
              </a:rPr>
              <a:t>package</a:t>
            </a:r>
            <a:r>
              <a:rPr lang="zh-CN" altLang="en-US">
                <a:latin typeface="+mn-lt"/>
              </a:rPr>
              <a:t>）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D5A2BB-4FD5-E3F4-9745-9DCB820AB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模块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B780E9-FEF9-FA89-1AD3-DFFC1B98E1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52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4A95D7-6ADB-FB19-53B2-6FBD50523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5698707" cy="10647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在使用模块中提供的功能之前，必须得先导入，再使用。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导入模块的具体语法如下：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1B91570-2D60-844B-47AA-49682D8A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模块导入方式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596559F-888B-9316-3557-607728AEA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699243"/>
              </p:ext>
            </p:extLst>
          </p:nvPr>
        </p:nvGraphicFramePr>
        <p:xfrm>
          <a:off x="933319" y="2020956"/>
          <a:ext cx="10682483" cy="4126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309">
                  <a:extLst>
                    <a:ext uri="{9D8B030D-6E8A-4147-A177-3AD203B41FA5}">
                      <a16:colId xmlns:a16="http://schemas.microsoft.com/office/drawing/2014/main" val="2669930531"/>
                    </a:ext>
                  </a:extLst>
                </a:gridCol>
                <a:gridCol w="3616363">
                  <a:extLst>
                    <a:ext uri="{9D8B030D-6E8A-4147-A177-3AD203B41FA5}">
                      <a16:colId xmlns:a16="http://schemas.microsoft.com/office/drawing/2014/main" val="47741886"/>
                    </a:ext>
                  </a:extLst>
                </a:gridCol>
                <a:gridCol w="1518229">
                  <a:extLst>
                    <a:ext uri="{9D8B030D-6E8A-4147-A177-3AD203B41FA5}">
                      <a16:colId xmlns:a16="http://schemas.microsoft.com/office/drawing/2014/main" val="1230114921"/>
                    </a:ext>
                  </a:extLst>
                </a:gridCol>
                <a:gridCol w="2530582">
                  <a:extLst>
                    <a:ext uri="{9D8B030D-6E8A-4147-A177-3AD203B41FA5}">
                      <a16:colId xmlns:a16="http://schemas.microsoft.com/office/drawing/2014/main" val="2193369814"/>
                    </a:ext>
                  </a:extLst>
                </a:gridCol>
              </a:tblGrid>
              <a:tr h="5260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导入形式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代码样例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调用方式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调用方式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11152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模块名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import random, os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模块名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.</a:t>
                      </a:r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random.randint(10, 100)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09305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模块名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as 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别名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import random as rd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别名</a:t>
                      </a: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.</a:t>
                      </a:r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rd.randint(10, 100)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02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from 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模块名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from random import randint,choice 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randint(10, 100)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66732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from 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模块名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功能名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as 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别名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from random import randint as rint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别名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rint(10, 100)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67208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from </a:t>
                      </a:r>
                      <a:r>
                        <a:rPr lang="zh-CN" altLang="en-US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模块名 </a:t>
                      </a:r>
                      <a:r>
                        <a:rPr lang="en-US" altLang="zh-CN" sz="12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*</a:t>
                      </a:r>
                      <a:endParaRPr lang="zh-CN" altLang="en-US" sz="1200">
                        <a:solidFill>
                          <a:srgbClr val="C00000"/>
                        </a:solidFill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from random import *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Fira Code" panose="020B0809050000020004" pitchFamily="49" charset="0"/>
                        </a:rPr>
                        <a:t>randint(10, 100)</a:t>
                      </a:r>
                      <a:endParaRPr lang="zh-CN" altLang="en-US" sz="12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688323"/>
                  </a:ext>
                </a:extLst>
              </a:tr>
            </a:tbl>
          </a:graphicData>
        </a:graphic>
      </p:graphicFrame>
      <p:sp>
        <p:nvSpPr>
          <p:cNvPr id="9" name="矩形: 圆角 8">
            <a:extLst>
              <a:ext uri="{FF2B5EF4-FFF2-40B4-BE49-F238E27FC236}">
                <a16:creationId xmlns:a16="http://schemas.microsoft.com/office/drawing/2014/main" id="{2B96F8A5-C35E-5F1F-D75B-F7C28CB9D6D8}"/>
              </a:ext>
            </a:extLst>
          </p:cNvPr>
          <p:cNvSpPr/>
          <p:nvPr/>
        </p:nvSpPr>
        <p:spPr>
          <a:xfrm>
            <a:off x="7206396" y="647716"/>
            <a:ext cx="3620630" cy="1128421"/>
          </a:xfrm>
          <a:prstGeom prst="roundRect">
            <a:avLst>
              <a:gd name="adj" fmla="val 6291"/>
            </a:avLst>
          </a:prstGeom>
          <a:solidFill>
            <a:schemeClr val="bg1">
              <a:lumMod val="85000"/>
              <a:alpha val="2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70994E8-E824-396B-4A9F-7AA888B0DA0E}"/>
              </a:ext>
            </a:extLst>
          </p:cNvPr>
          <p:cNvSpPr/>
          <p:nvPr/>
        </p:nvSpPr>
        <p:spPr>
          <a:xfrm>
            <a:off x="7319041" y="790937"/>
            <a:ext cx="1009951" cy="328873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功能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C7DBE04-5AD1-9056-ABB0-10C9D16073E9}"/>
              </a:ext>
            </a:extLst>
          </p:cNvPr>
          <p:cNvSpPr/>
          <p:nvPr/>
        </p:nvSpPr>
        <p:spPr>
          <a:xfrm>
            <a:off x="9722390" y="790936"/>
            <a:ext cx="1009951" cy="328873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功能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E593677-5BF7-2699-678B-3B1A15CDE541}"/>
              </a:ext>
            </a:extLst>
          </p:cNvPr>
          <p:cNvSpPr/>
          <p:nvPr/>
        </p:nvSpPr>
        <p:spPr>
          <a:xfrm>
            <a:off x="8520715" y="790937"/>
            <a:ext cx="1009951" cy="328873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功能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DA06358-444A-566D-2B97-FBDD519630C6}"/>
              </a:ext>
            </a:extLst>
          </p:cNvPr>
          <p:cNvSpPr/>
          <p:nvPr/>
        </p:nvSpPr>
        <p:spPr>
          <a:xfrm>
            <a:off x="7319041" y="1301035"/>
            <a:ext cx="1009951" cy="328873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功能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0A9C621-7204-E369-68AE-17E338AD65E2}"/>
              </a:ext>
            </a:extLst>
          </p:cNvPr>
          <p:cNvSpPr/>
          <p:nvPr/>
        </p:nvSpPr>
        <p:spPr>
          <a:xfrm>
            <a:off x="8520715" y="1301035"/>
            <a:ext cx="1009951" cy="328873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功能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5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6491D53-D998-9B14-3ABC-B03A40032BE8}"/>
              </a:ext>
            </a:extLst>
          </p:cNvPr>
          <p:cNvSpPr/>
          <p:nvPr/>
        </p:nvSpPr>
        <p:spPr>
          <a:xfrm>
            <a:off x="9722389" y="1301034"/>
            <a:ext cx="1009951" cy="328873"/>
          </a:xfrm>
          <a:prstGeom prst="roundRect">
            <a:avLst>
              <a:gd name="adj" fmla="val 1862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功能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6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5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2" grpId="1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536BC-E3D7-78BB-FDDF-921EE1FB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AF78896-F541-DF46-2356-1710A7C4FC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20610" y="1538633"/>
            <a:ext cx="7880340" cy="318462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什么是模块</a:t>
            </a:r>
            <a:r>
              <a:rPr lang="en-US" altLang="zh-CN"/>
              <a:t>? </a:t>
            </a:r>
            <a:r>
              <a:rPr lang="zh-CN" altLang="en-US"/>
              <a:t>有什么用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模块：就是一个</a:t>
            </a:r>
            <a:r>
              <a:rPr lang="en-US" altLang="zh-CN" sz="1400"/>
              <a:t>python</a:t>
            </a:r>
            <a:r>
              <a:rPr lang="zh-CN" altLang="en-US" sz="1400"/>
              <a:t>文件</a:t>
            </a:r>
            <a:r>
              <a:rPr lang="en-US" altLang="zh-CN" sz="1400"/>
              <a:t>(.py)</a:t>
            </a:r>
            <a:r>
              <a:rPr lang="zh-CN" altLang="en-US" sz="1400"/>
              <a:t>，其中就包含了变量、函数、类，以及可执行的代码。</a:t>
            </a:r>
            <a:endParaRPr lang="en-US" altLang="zh-CN" sz="14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作用：提高代码复用性，降低开发门槛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导入模块的常用语法</a:t>
            </a:r>
            <a:r>
              <a:rPr lang="en-US" altLang="zh-CN"/>
              <a:t>? </a:t>
            </a:r>
            <a:r>
              <a:rPr lang="en-US" altLang="zh-CN">
                <a:solidFill>
                  <a:srgbClr val="C00000"/>
                </a:solidFill>
              </a:rPr>
              <a:t>(</a:t>
            </a:r>
            <a:r>
              <a:rPr lang="zh-CN" altLang="en-US">
                <a:solidFill>
                  <a:srgbClr val="C00000"/>
                </a:solidFill>
              </a:rPr>
              <a:t>导入模块的语句，一般写在</a:t>
            </a:r>
            <a:r>
              <a:rPr lang="en-US" altLang="zh-CN">
                <a:solidFill>
                  <a:srgbClr val="C00000"/>
                </a:solidFill>
              </a:rPr>
              <a:t>py</a:t>
            </a:r>
            <a:r>
              <a:rPr lang="zh-CN" altLang="en-US">
                <a:solidFill>
                  <a:srgbClr val="C00000"/>
                </a:solidFill>
              </a:rPr>
              <a:t>文件的开头</a:t>
            </a:r>
            <a:r>
              <a:rPr lang="en-US" altLang="zh-CN">
                <a:solidFill>
                  <a:srgbClr val="C00000"/>
                </a:solidFill>
              </a:rPr>
              <a:t>)</a:t>
            </a:r>
          </a:p>
          <a:p>
            <a:pPr marL="61200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import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模块名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 [as 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别名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]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from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模块名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import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功能名 </a:t>
            </a:r>
            <a:r>
              <a:rPr lang="en-US" altLang="zh-CN" sz="1400">
                <a:solidFill>
                  <a:srgbClr val="363C3B"/>
                </a:solidFill>
              </a:rPr>
              <a:t>[as </a:t>
            </a:r>
            <a:r>
              <a:rPr lang="zh-CN" altLang="en-US" sz="1400">
                <a:solidFill>
                  <a:srgbClr val="363C3B"/>
                </a:solidFill>
              </a:rPr>
              <a:t>别名</a:t>
            </a:r>
            <a:r>
              <a:rPr lang="en-US" altLang="zh-CN" sz="1400">
                <a:solidFill>
                  <a:srgbClr val="363C3B"/>
                </a:solidFill>
              </a:rPr>
              <a:t>]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altLang="zh-CN" sz="1400">
                <a:solidFill>
                  <a:srgbClr val="363C3B"/>
                </a:solidFill>
              </a:rPr>
              <a:t>from </a:t>
            </a:r>
            <a:r>
              <a:rPr lang="zh-CN" altLang="en-US" sz="1400">
                <a:solidFill>
                  <a:srgbClr val="363C3B"/>
                </a:solidFill>
              </a:rPr>
              <a:t>模块名 </a:t>
            </a:r>
            <a:r>
              <a:rPr lang="en-US" altLang="zh-CN" sz="1400">
                <a:solidFill>
                  <a:srgbClr val="363C3B"/>
                </a:solidFill>
              </a:rPr>
              <a:t>import *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9526C1-391D-4ADA-6535-BA56575E9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25" y="3092433"/>
            <a:ext cx="4123014" cy="3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32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3882B-C0D9-5393-FB8C-CA481255E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24D535-7CB3-B8F3-8477-6C1538446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导入模块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自定义模块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软件包（</a:t>
            </a:r>
            <a:r>
              <a:rPr lang="en-US" altLang="zh-CN">
                <a:latin typeface="+mn-lt"/>
              </a:rPr>
              <a:t>package</a:t>
            </a:r>
            <a:r>
              <a:rPr lang="zh-CN" altLang="en-US">
                <a:latin typeface="+mn-lt"/>
              </a:rPr>
              <a:t>）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99B7D2-FDF8-8C2C-56A5-10A70E409D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模块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6D33AD-54B8-8D3A-1F99-900A14F232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528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C56A8-F4F6-CA07-D7C8-DF35F133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86379A-27F8-DF55-E2FF-A3A8DE97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6593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当开发一些复杂的项目，为了让项目结构更清晰，更便于项目的维护管理 及 代码的复用，可能会把一个项目拆分为若干个模块。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7687544-7517-4F02-5D97-2B6940384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自定义模块</a:t>
            </a:r>
          </a:p>
        </p:txBody>
      </p:sp>
      <p:grpSp>
        <p:nvGrpSpPr>
          <p:cNvPr id="32" name="!!组合 31">
            <a:extLst>
              <a:ext uri="{FF2B5EF4-FFF2-40B4-BE49-F238E27FC236}">
                <a16:creationId xmlns:a16="http://schemas.microsoft.com/office/drawing/2014/main" id="{170C598E-2A26-5C62-C439-51C048B46805}"/>
              </a:ext>
            </a:extLst>
          </p:cNvPr>
          <p:cNvGrpSpPr/>
          <p:nvPr/>
        </p:nvGrpSpPr>
        <p:grpSpPr>
          <a:xfrm>
            <a:off x="972136" y="1894442"/>
            <a:ext cx="4651514" cy="4809877"/>
            <a:chOff x="2297720" y="3660322"/>
            <a:chExt cx="5125104" cy="4810164"/>
          </a:xfrm>
          <a:effectLst/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D03721CB-857E-407E-D847-79CA1ED12E67}"/>
                </a:ext>
              </a:extLst>
            </p:cNvPr>
            <p:cNvSpPr/>
            <p:nvPr/>
          </p:nvSpPr>
          <p:spPr>
            <a:xfrm>
              <a:off x="2297729" y="3660322"/>
              <a:ext cx="5125095" cy="4810164"/>
            </a:xfrm>
            <a:prstGeom prst="roundRect">
              <a:avLst>
                <a:gd name="adj" fmla="val 1224"/>
              </a:avLst>
            </a:prstGeom>
            <a:solidFill>
              <a:srgbClr val="F6F6F6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基础配置项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st.set_page_config(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page_title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"AI</a:t>
              </a:r>
              <a:r>
                <a:rPr lang="zh-CN" altLang="en-US" sz="700">
                  <a:solidFill>
                    <a:srgbClr val="067D17"/>
                  </a:solidFill>
                  <a:latin typeface="Courier New" panose="02070309020205020404" pitchFamily="49" charset="0"/>
                </a:rPr>
                <a:t>树洞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页面标题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page_icon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700">
                  <a:solidFill>
                    <a:srgbClr val="067D17"/>
                  </a:solidFill>
                  <a:latin typeface="Courier New" panose="02070309020205020404" pitchFamily="49" charset="0"/>
                </a:rPr>
                <a:t>🤖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icon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layout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"wide"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页面布局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,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可选值有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: "centered" | "wide"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initial_sidebar_state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"expanded"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侧边栏初始状态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menu_items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={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右上角的菜单项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'Get Help'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'https://www.extremelycoolapp.com/help'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'Report a bug'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"https://www.extremelycoolapp.com/bug"</a:t>
              </a:r>
              <a:b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}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加载会话列表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def </a:t>
              </a:r>
              <a:r>
                <a:rPr lang="en-US" altLang="zh-CN" sz="700">
                  <a:solidFill>
                    <a:srgbClr val="00627A"/>
                  </a:solidFill>
                  <a:latin typeface="Fira Code" panose="020B0809050000020004" pitchFamily="49" charset="0"/>
                </a:rPr>
                <a:t>load_sessions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 []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os.path.exists(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for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in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os.listdir(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.endswith(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".json"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.append(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[:-</a:t>
              </a:r>
              <a:r>
                <a:rPr lang="en-US" altLang="zh-CN" sz="700">
                  <a:solidFill>
                    <a:srgbClr val="1750EB"/>
                  </a:solidFill>
                  <a:latin typeface="Fira Code" panose="020B0809050000020004" pitchFamily="49" charset="0"/>
                </a:rPr>
                <a:t>5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])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return </a:t>
              </a:r>
              <a:r>
                <a:rPr lang="en-US" altLang="zh-CN" sz="700">
                  <a:solidFill>
                    <a:srgbClr val="000080"/>
                  </a:solidFill>
                  <a:latin typeface="Fira Code" panose="020B0809050000020004" pitchFamily="49" charset="0"/>
                </a:rPr>
                <a:t>sorted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reverse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True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保存当前会话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def </a:t>
              </a:r>
              <a:r>
                <a:rPr lang="en-US" altLang="zh-CN" sz="700">
                  <a:solidFill>
                    <a:srgbClr val="00627A"/>
                  </a:solidFill>
                  <a:latin typeface="Fira Code" panose="020B0809050000020004" pitchFamily="49" charset="0"/>
                </a:rPr>
                <a:t>save_session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session_data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 {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"messages"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st.session_state.messages,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"name"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st.session_state.name,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"temperature"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st.session_state.temperature,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"model"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st.session_state.model,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 ......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700">
                <a:solidFill>
                  <a:schemeClr val="tx1">
                    <a:lumMod val="75000"/>
                  </a:schemeClr>
                </a:solidFill>
                <a:effectLst/>
              </a:endParaRPr>
            </a:p>
          </p:txBody>
        </p:sp>
        <p:sp>
          <p:nvSpPr>
            <p:cNvPr id="34" name="矩形: 圆顶角 33">
              <a:extLst>
                <a:ext uri="{FF2B5EF4-FFF2-40B4-BE49-F238E27FC236}">
                  <a16:creationId xmlns:a16="http://schemas.microsoft.com/office/drawing/2014/main" id="{20CA6E87-E329-C7C6-777D-FC9DC943C076}"/>
                </a:ext>
              </a:extLst>
            </p:cNvPr>
            <p:cNvSpPr/>
            <p:nvPr/>
          </p:nvSpPr>
          <p:spPr>
            <a:xfrm>
              <a:off x="2297720" y="3660322"/>
              <a:ext cx="512509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9EBE2B6-C031-B5A4-87E1-B138E93FBEE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AC61A554-7AE2-8FD8-8F3C-FB3B2072460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41DFD309-4618-E230-6E6D-2C3C293E23E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!!组合 32">
            <a:extLst>
              <a:ext uri="{FF2B5EF4-FFF2-40B4-BE49-F238E27FC236}">
                <a16:creationId xmlns:a16="http://schemas.microsoft.com/office/drawing/2014/main" id="{C00972BD-0118-AF06-B300-FACAE2FA19F9}"/>
              </a:ext>
            </a:extLst>
          </p:cNvPr>
          <p:cNvGrpSpPr/>
          <p:nvPr/>
        </p:nvGrpSpPr>
        <p:grpSpPr>
          <a:xfrm>
            <a:off x="972136" y="1894442"/>
            <a:ext cx="4651514" cy="4809877"/>
            <a:chOff x="2297720" y="3660322"/>
            <a:chExt cx="5125104" cy="4810164"/>
          </a:xfrm>
          <a:effectLst/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321195B6-1B32-D8F9-BF7B-B071319A0762}"/>
                </a:ext>
              </a:extLst>
            </p:cNvPr>
            <p:cNvSpPr/>
            <p:nvPr/>
          </p:nvSpPr>
          <p:spPr>
            <a:xfrm>
              <a:off x="2297729" y="3660322"/>
              <a:ext cx="5125095" cy="4810164"/>
            </a:xfrm>
            <a:prstGeom prst="roundRect">
              <a:avLst>
                <a:gd name="adj" fmla="val 1224"/>
              </a:avLst>
            </a:prstGeom>
            <a:solidFill>
              <a:srgbClr val="F6F6F6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基础配置项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st.set_page_config(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page_title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"AI</a:t>
              </a:r>
              <a:r>
                <a:rPr lang="zh-CN" altLang="en-US" sz="700">
                  <a:solidFill>
                    <a:srgbClr val="067D17"/>
                  </a:solidFill>
                  <a:latin typeface="Courier New" panose="02070309020205020404" pitchFamily="49" charset="0"/>
                </a:rPr>
                <a:t>树洞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页面标题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page_icon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700">
                  <a:solidFill>
                    <a:srgbClr val="067D17"/>
                  </a:solidFill>
                  <a:latin typeface="Courier New" panose="02070309020205020404" pitchFamily="49" charset="0"/>
                </a:rPr>
                <a:t>🤖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icon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layout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"wide"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页面布局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,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可选值有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: "centered" | "wide"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initial_sidebar_state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"expanded"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侧边栏初始状态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menu_items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={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右上角的菜单项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'Get Help'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'https://www.extremelycoolapp.com/help'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'Report a bug'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"https://www.extremelycoolapp.com/bug"</a:t>
              </a:r>
              <a:b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}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加载会话列表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def </a:t>
              </a:r>
              <a:r>
                <a:rPr lang="en-US" altLang="zh-CN" sz="700">
                  <a:solidFill>
                    <a:srgbClr val="00627A"/>
                  </a:solidFill>
                  <a:latin typeface="Fira Code" panose="020B0809050000020004" pitchFamily="49" charset="0"/>
                </a:rPr>
                <a:t>load_sessions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 []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os.path.exists(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for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in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os.listdir(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.endswith(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".json"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.append(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[:-</a:t>
              </a:r>
              <a:r>
                <a:rPr lang="en-US" altLang="zh-CN" sz="700">
                  <a:solidFill>
                    <a:srgbClr val="1750EB"/>
                  </a:solidFill>
                  <a:latin typeface="Fira Code" panose="020B0809050000020004" pitchFamily="49" charset="0"/>
                </a:rPr>
                <a:t>5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])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return </a:t>
              </a:r>
              <a:r>
                <a:rPr lang="en-US" altLang="zh-CN" sz="700">
                  <a:solidFill>
                    <a:srgbClr val="000080"/>
                  </a:solidFill>
                  <a:latin typeface="Fira Code" panose="020B0809050000020004" pitchFamily="49" charset="0"/>
                </a:rPr>
                <a:t>sorted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reverse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True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保存当前会话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def </a:t>
              </a:r>
              <a:r>
                <a:rPr lang="en-US" altLang="zh-CN" sz="700">
                  <a:solidFill>
                    <a:srgbClr val="00627A"/>
                  </a:solidFill>
                  <a:latin typeface="Fira Code" panose="020B0809050000020004" pitchFamily="49" charset="0"/>
                </a:rPr>
                <a:t>save_session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session_data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 {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"messages"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st.session_state.messages,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"name"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st.session_state.name,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"temperature"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st.session_state.temperature,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"model"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st.session_state.model,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 ......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700">
                <a:solidFill>
                  <a:schemeClr val="tx1">
                    <a:lumMod val="75000"/>
                  </a:schemeClr>
                </a:solidFill>
                <a:effectLst/>
              </a:endParaRPr>
            </a:p>
          </p:txBody>
        </p:sp>
        <p:sp>
          <p:nvSpPr>
            <p:cNvPr id="40" name="矩形: 圆顶角 39">
              <a:extLst>
                <a:ext uri="{FF2B5EF4-FFF2-40B4-BE49-F238E27FC236}">
                  <a16:creationId xmlns:a16="http://schemas.microsoft.com/office/drawing/2014/main" id="{CB1BA3AD-2530-CCD1-649B-F637FFF8E561}"/>
                </a:ext>
              </a:extLst>
            </p:cNvPr>
            <p:cNvSpPr/>
            <p:nvPr/>
          </p:nvSpPr>
          <p:spPr>
            <a:xfrm>
              <a:off x="2297720" y="3660322"/>
              <a:ext cx="512509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175271AE-AC54-AD91-F62B-4BEC1E0B5E3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802DED6-1FB8-D8A8-4DDE-740984EE83B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35975345-2B15-44F1-D520-B521B457634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!!组合 33">
            <a:extLst>
              <a:ext uri="{FF2B5EF4-FFF2-40B4-BE49-F238E27FC236}">
                <a16:creationId xmlns:a16="http://schemas.microsoft.com/office/drawing/2014/main" id="{49356E6D-8DEF-8CA4-B24D-D6C0CC85269E}"/>
              </a:ext>
            </a:extLst>
          </p:cNvPr>
          <p:cNvGrpSpPr/>
          <p:nvPr/>
        </p:nvGrpSpPr>
        <p:grpSpPr>
          <a:xfrm>
            <a:off x="972136" y="1894442"/>
            <a:ext cx="4651514" cy="4809877"/>
            <a:chOff x="2297720" y="3660322"/>
            <a:chExt cx="5125104" cy="4810164"/>
          </a:xfrm>
          <a:effectLst/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1156A3E7-9583-EA34-764D-5B7F1165CB14}"/>
                </a:ext>
              </a:extLst>
            </p:cNvPr>
            <p:cNvSpPr/>
            <p:nvPr/>
          </p:nvSpPr>
          <p:spPr>
            <a:xfrm>
              <a:off x="2297729" y="3660322"/>
              <a:ext cx="5125095" cy="4810164"/>
            </a:xfrm>
            <a:prstGeom prst="roundRect">
              <a:avLst>
                <a:gd name="adj" fmla="val 1224"/>
              </a:avLst>
            </a:prstGeom>
            <a:solidFill>
              <a:srgbClr val="F6F6F6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基础配置项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st.set_page_config(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page_title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"AI</a:t>
              </a:r>
              <a:r>
                <a:rPr lang="zh-CN" altLang="en-US" sz="700">
                  <a:solidFill>
                    <a:srgbClr val="067D17"/>
                  </a:solidFill>
                  <a:latin typeface="Courier New" panose="02070309020205020404" pitchFamily="49" charset="0"/>
                </a:rPr>
                <a:t>树洞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页面标题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page_icon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700">
                  <a:solidFill>
                    <a:srgbClr val="067D17"/>
                  </a:solidFill>
                  <a:latin typeface="Courier New" panose="02070309020205020404" pitchFamily="49" charset="0"/>
                </a:rPr>
                <a:t>🤖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icon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layout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"wide"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页面布局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,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可选值有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: "centered" | "wide"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initial_sidebar_state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"expanded"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侧边栏初始状态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menu_items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={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右上角的菜单项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'Get Help'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'https://www.extremelycoolapp.com/help'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'Report a bug'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"https://www.extremelycoolapp.com/bug"</a:t>
              </a:r>
              <a:b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}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加载会话列表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def </a:t>
              </a:r>
              <a:r>
                <a:rPr lang="en-US" altLang="zh-CN" sz="700">
                  <a:solidFill>
                    <a:srgbClr val="00627A"/>
                  </a:solidFill>
                  <a:latin typeface="Fira Code" panose="020B0809050000020004" pitchFamily="49" charset="0"/>
                </a:rPr>
                <a:t>load_sessions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 []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os.path.exists(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for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in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os.listdir(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.endswith(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".json"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.append(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[:-</a:t>
              </a:r>
              <a:r>
                <a:rPr lang="en-US" altLang="zh-CN" sz="700">
                  <a:solidFill>
                    <a:srgbClr val="1750EB"/>
                  </a:solidFill>
                  <a:latin typeface="Fira Code" panose="020B0809050000020004" pitchFamily="49" charset="0"/>
                </a:rPr>
                <a:t>5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])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return </a:t>
              </a:r>
              <a:r>
                <a:rPr lang="en-US" altLang="zh-CN" sz="700">
                  <a:solidFill>
                    <a:srgbClr val="000080"/>
                  </a:solidFill>
                  <a:latin typeface="Fira Code" panose="020B0809050000020004" pitchFamily="49" charset="0"/>
                </a:rPr>
                <a:t>sorted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reverse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True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保存当前会话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def </a:t>
              </a:r>
              <a:r>
                <a:rPr lang="en-US" altLang="zh-CN" sz="700">
                  <a:solidFill>
                    <a:srgbClr val="00627A"/>
                  </a:solidFill>
                  <a:latin typeface="Fira Code" panose="020B0809050000020004" pitchFamily="49" charset="0"/>
                </a:rPr>
                <a:t>save_session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session_data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 {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"messages"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st.session_state.messages,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"name"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st.session_state.name,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"temperature"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st.session_state.temperature,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"model"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st.session_state.model,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 ......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700">
                <a:solidFill>
                  <a:schemeClr val="tx1">
                    <a:lumMod val="75000"/>
                  </a:schemeClr>
                </a:solidFill>
                <a:effectLst/>
              </a:endParaRPr>
            </a:p>
          </p:txBody>
        </p:sp>
        <p:sp>
          <p:nvSpPr>
            <p:cNvPr id="46" name="矩形: 圆顶角 45">
              <a:extLst>
                <a:ext uri="{FF2B5EF4-FFF2-40B4-BE49-F238E27FC236}">
                  <a16:creationId xmlns:a16="http://schemas.microsoft.com/office/drawing/2014/main" id="{3AC3470E-792F-E582-8E1A-363F3E4FAEBB}"/>
                </a:ext>
              </a:extLst>
            </p:cNvPr>
            <p:cNvSpPr/>
            <p:nvPr/>
          </p:nvSpPr>
          <p:spPr>
            <a:xfrm>
              <a:off x="2297720" y="3660322"/>
              <a:ext cx="512509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6B06BA7-E2B0-109E-E0E7-463784BF66F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E69EAB51-2399-49B2-ED02-D478C3BACA7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DC465458-DA6C-F5C8-2C7C-AB907D40366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5238A11-CB9A-29A7-FA49-DDACB2EA7473}"/>
              </a:ext>
            </a:extLst>
          </p:cNvPr>
          <p:cNvGrpSpPr/>
          <p:nvPr/>
        </p:nvGrpSpPr>
        <p:grpSpPr>
          <a:xfrm>
            <a:off x="972136" y="1858308"/>
            <a:ext cx="4651514" cy="4809877"/>
            <a:chOff x="2297720" y="3660322"/>
            <a:chExt cx="5125104" cy="4810164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9D2E304-4CEE-1DA3-6EEE-D7FFEE98D527}"/>
                </a:ext>
              </a:extLst>
            </p:cNvPr>
            <p:cNvSpPr/>
            <p:nvPr/>
          </p:nvSpPr>
          <p:spPr>
            <a:xfrm>
              <a:off x="2297729" y="3660322"/>
              <a:ext cx="5125095" cy="4810164"/>
            </a:xfrm>
            <a:prstGeom prst="roundRect">
              <a:avLst>
                <a:gd name="adj" fmla="val 1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基础配置项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st.set_page_config(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page_title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"AI</a:t>
              </a:r>
              <a:r>
                <a:rPr lang="zh-CN" altLang="en-US" sz="700">
                  <a:solidFill>
                    <a:srgbClr val="067D17"/>
                  </a:solidFill>
                  <a:latin typeface="Courier New" panose="02070309020205020404" pitchFamily="49" charset="0"/>
                </a:rPr>
                <a:t>树洞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页面标题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page_icon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700">
                  <a:solidFill>
                    <a:srgbClr val="067D17"/>
                  </a:solidFill>
                  <a:latin typeface="Courier New" panose="02070309020205020404" pitchFamily="49" charset="0"/>
                </a:rPr>
                <a:t>🤖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icon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layout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"wide"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页面布局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,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可选值有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: "centered" | "wide"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initial_sidebar_state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"expanded"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侧边栏初始状态</a:t>
              </a:r>
              <a:b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menu_items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={  </a:t>
              </a: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右上角的菜单项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'Get Help'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'https://www.extremelycoolapp.com/help'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'Report a bug'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"https://www.extremelycoolapp.com/bug"</a:t>
              </a:r>
              <a:b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}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加载会话列表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def </a:t>
              </a:r>
              <a:r>
                <a:rPr lang="en-US" altLang="zh-CN" sz="700">
                  <a:solidFill>
                    <a:srgbClr val="00627A"/>
                  </a:solidFill>
                  <a:latin typeface="Fira Code" panose="020B0809050000020004" pitchFamily="49" charset="0"/>
                </a:rPr>
                <a:t>load_session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 []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os.path.exists(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for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in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os.listdir(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.endswith(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".json"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.append(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[:-</a:t>
              </a:r>
              <a:r>
                <a:rPr lang="en-US" altLang="zh-CN" sz="700">
                  <a:solidFill>
                    <a:srgbClr val="1750EB"/>
                  </a:solidFill>
                  <a:latin typeface="Fira Code" panose="020B0809050000020004" pitchFamily="49" charset="0"/>
                </a:rPr>
                <a:t>5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])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return </a:t>
              </a:r>
              <a:r>
                <a:rPr lang="en-US" altLang="zh-CN" sz="700">
                  <a:solidFill>
                    <a:srgbClr val="000080"/>
                  </a:solidFill>
                  <a:latin typeface="Fira Code" panose="020B0809050000020004" pitchFamily="49" charset="0"/>
                </a:rPr>
                <a:t>sorted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700">
                  <a:solidFill>
                    <a:srgbClr val="660099"/>
                  </a:solidFill>
                  <a:latin typeface="Fira Code" panose="020B0809050000020004" pitchFamily="49" charset="0"/>
                </a:rPr>
                <a:t>reverse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True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  <a:t>保存当前会话</a:t>
              </a:r>
              <a:br>
                <a:rPr lang="zh-CN" altLang="en-US" sz="7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def </a:t>
              </a:r>
              <a:r>
                <a:rPr lang="en-US" altLang="zh-CN" sz="700">
                  <a:solidFill>
                    <a:srgbClr val="00627A"/>
                  </a:solidFill>
                  <a:latin typeface="Fira Code" panose="020B0809050000020004" pitchFamily="49" charset="0"/>
                </a:rPr>
                <a:t>save_session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7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session_name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700">
                  <a:solidFill>
                    <a:srgbClr val="000000"/>
                  </a:solidFill>
                  <a:latin typeface="Fira Code" panose="020B0809050000020004" pitchFamily="49" charset="0"/>
                </a:rPr>
                <a:t>session_data 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= {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"messages"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st.session_state.messages,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"name"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st.session_state.name,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"temperature"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st.session_state.temperature,</a:t>
              </a:r>
              <a:b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700">
                  <a:solidFill>
                    <a:srgbClr val="067D17"/>
                  </a:solidFill>
                  <a:latin typeface="Fira Code" panose="020B0809050000020004" pitchFamily="49" charset="0"/>
                </a:rPr>
                <a:t>"model"</a:t>
              </a: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: st.session_state.model,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7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 ......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700">
                <a:solidFill>
                  <a:schemeClr val="tx1">
                    <a:lumMod val="75000"/>
                  </a:schemeClr>
                </a:solidFill>
                <a:effectLst/>
              </a:endParaRPr>
            </a:p>
          </p:txBody>
        </p:sp>
        <p:sp>
          <p:nvSpPr>
            <p:cNvPr id="16" name="矩形: 圆顶角 15">
              <a:extLst>
                <a:ext uri="{FF2B5EF4-FFF2-40B4-BE49-F238E27FC236}">
                  <a16:creationId xmlns:a16="http://schemas.microsoft.com/office/drawing/2014/main" id="{2E7A700D-0A5D-0715-E751-922D7ECA42FE}"/>
                </a:ext>
              </a:extLst>
            </p:cNvPr>
            <p:cNvSpPr/>
            <p:nvPr/>
          </p:nvSpPr>
          <p:spPr>
            <a:xfrm>
              <a:off x="2297720" y="3660322"/>
              <a:ext cx="512509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5B87FEC-B1A0-0979-E894-534B7D0B3A2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21A42BF-34D4-3064-50C5-D54ACB42C0C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117EE35-EFB2-DA48-EFC1-F34D3C91761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126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8AF7-CC57-173F-4C97-5A653B81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7468F3-6870-B8C0-CD7F-F4E2D620E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6593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当开发一些复杂的项目，为了让项目结构更清晰，更便于项目的维护管理 及 代码的复用，可能会把一个项目拆分为若干个模块。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C7294F1-66FC-8C12-EC41-BAE2D84B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自定义模块</a:t>
            </a:r>
          </a:p>
        </p:txBody>
      </p:sp>
      <p:grpSp>
        <p:nvGrpSpPr>
          <p:cNvPr id="14" name="!!组合 31">
            <a:extLst>
              <a:ext uri="{FF2B5EF4-FFF2-40B4-BE49-F238E27FC236}">
                <a16:creationId xmlns:a16="http://schemas.microsoft.com/office/drawing/2014/main" id="{BE89B144-EF5F-E920-0773-C0070DE3687E}"/>
              </a:ext>
            </a:extLst>
          </p:cNvPr>
          <p:cNvGrpSpPr/>
          <p:nvPr/>
        </p:nvGrpSpPr>
        <p:grpSpPr>
          <a:xfrm>
            <a:off x="972136" y="1858308"/>
            <a:ext cx="4651514" cy="1792665"/>
            <a:chOff x="2297720" y="3660322"/>
            <a:chExt cx="5125104" cy="179277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C84AB9C-2571-3D2C-4FD6-D89B8759BCC4}"/>
                </a:ext>
              </a:extLst>
            </p:cNvPr>
            <p:cNvSpPr/>
            <p:nvPr/>
          </p:nvSpPr>
          <p:spPr>
            <a:xfrm>
              <a:off x="2297729" y="3660323"/>
              <a:ext cx="5125095" cy="1792771"/>
            </a:xfrm>
            <a:prstGeom prst="roundRect">
              <a:avLst>
                <a:gd name="adj" fmla="val 344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Fira Code" panose="020B0809050000020004" pitchFamily="49" charset="0"/>
                </a:rPr>
                <a:t>基础配置项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660099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PAGE_TITLE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= 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"AI</a:t>
              </a:r>
              <a:r>
                <a:rPr lang="zh-CN" altLang="en-US" sz="900">
                  <a:solidFill>
                    <a:srgbClr val="067D17"/>
                  </a:solidFill>
                  <a:latin typeface="Fira Code" panose="020B0809050000020004" pitchFamily="49" charset="0"/>
                </a:rPr>
                <a:t>树洞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,  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Fira Code" panose="020B0809050000020004" pitchFamily="49" charset="0"/>
                </a:rPr>
                <a:t>页面标题</a:t>
              </a:r>
              <a:br>
                <a:rPr lang="zh-CN" altLang="en-US" sz="900">
                  <a:solidFill>
                    <a:srgbClr val="8C8C8C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660099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PAGE_ICON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= 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latin typeface="Fira Code" panose="020B0809050000020004" pitchFamily="49" charset="0"/>
                </a:rPr>
                <a:t>🤖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,  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Fira Code" panose="020B0809050000020004" pitchFamily="49" charset="0"/>
                </a:rPr>
                <a:t>页面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icon</a:t>
              </a:r>
              <a:b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660099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LAYOUT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= 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"wide"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,  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Fira Code" panose="020B0809050000020004" pitchFamily="49" charset="0"/>
                </a:rPr>
                <a:t>页面布局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, </a:t>
              </a:r>
              <a:r>
                <a:rPr lang="zh-CN" altLang="en-US" sz="900">
                  <a:solidFill>
                    <a:srgbClr val="8C8C8C"/>
                  </a:solidFill>
                  <a:latin typeface="Fira Code" panose="020B0809050000020004" pitchFamily="49" charset="0"/>
                </a:rPr>
                <a:t>可选值有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: "centered" | "wide"</a:t>
              </a:r>
              <a:b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660099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INITIAL_SIDEBAR_STATE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= 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"expanded"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,  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Fira Code" panose="020B0809050000020004" pitchFamily="49" charset="0"/>
                </a:rPr>
                <a:t>侧边栏初始状态</a:t>
              </a:r>
              <a:endParaRPr lang="en-US" altLang="zh-CN" sz="900">
                <a:solidFill>
                  <a:srgbClr val="8C8C8C"/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660099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HELP_URL </a:t>
              </a:r>
              <a:r>
                <a:rPr lang="en-US" altLang="zh-CN" sz="9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= 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"https://www.extremelycoolapp.com/help"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660099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SESSION_LOCATION </a:t>
              </a:r>
              <a:r>
                <a:rPr lang="en-US" altLang="zh-CN" sz="9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= </a:t>
              </a:r>
              <a:r>
                <a:rPr lang="en-US" altLang="zh-CN" sz="900">
                  <a:solidFill>
                    <a:srgbClr val="067D17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"sessions/" 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Fira Code" panose="020B0809050000020004" pitchFamily="49" charset="0"/>
                </a:rPr>
                <a:t>会话数据存储位置</a:t>
              </a:r>
              <a:endParaRPr lang="en-US" altLang="zh-CN" sz="900">
                <a:solidFill>
                  <a:srgbClr val="8C8C8C"/>
                </a:solidFill>
                <a:latin typeface="Fira Code" panose="020B0809050000020004" pitchFamily="49" charset="0"/>
                <a:ea typeface="Fira Code" panose="020B0809050000020004" pitchFamily="49" charset="0"/>
              </a:endParaRPr>
            </a:p>
          </p:txBody>
        </p:sp>
        <p:sp>
          <p:nvSpPr>
            <p:cNvPr id="16" name="矩形: 圆顶角 15">
              <a:extLst>
                <a:ext uri="{FF2B5EF4-FFF2-40B4-BE49-F238E27FC236}">
                  <a16:creationId xmlns:a16="http://schemas.microsoft.com/office/drawing/2014/main" id="{6AAD3A6C-2380-9928-E4CB-8F415CDF4AB5}"/>
                </a:ext>
              </a:extLst>
            </p:cNvPr>
            <p:cNvSpPr/>
            <p:nvPr/>
          </p:nvSpPr>
          <p:spPr>
            <a:xfrm>
              <a:off x="2297720" y="3660322"/>
              <a:ext cx="512509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config.py</a:t>
              </a: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6FCEB6F-ED36-5ADD-0412-4396B593CDF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F98B580-5B1A-451D-4253-9B98CB67205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D0E319C5-E69F-9D84-81CF-EAD562E64F3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!!组合 32">
            <a:extLst>
              <a:ext uri="{FF2B5EF4-FFF2-40B4-BE49-F238E27FC236}">
                <a16:creationId xmlns:a16="http://schemas.microsoft.com/office/drawing/2014/main" id="{694F6BC1-F1C4-3E93-34BC-80C63EE0B5BB}"/>
              </a:ext>
            </a:extLst>
          </p:cNvPr>
          <p:cNvGrpSpPr/>
          <p:nvPr/>
        </p:nvGrpSpPr>
        <p:grpSpPr>
          <a:xfrm>
            <a:off x="972136" y="3905143"/>
            <a:ext cx="4651514" cy="2273569"/>
            <a:chOff x="2297720" y="3660322"/>
            <a:chExt cx="5125104" cy="2273704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31965B9-788C-BEE9-F00E-93C599BBE865}"/>
                </a:ext>
              </a:extLst>
            </p:cNvPr>
            <p:cNvSpPr/>
            <p:nvPr/>
          </p:nvSpPr>
          <p:spPr>
            <a:xfrm>
              <a:off x="2297729" y="3660323"/>
              <a:ext cx="5125095" cy="2273703"/>
            </a:xfrm>
            <a:prstGeom prst="roundRect">
              <a:avLst>
                <a:gd name="adj" fmla="val 3442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  <a:t>加载会话列表</a:t>
              </a:r>
              <a:b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def </a:t>
              </a:r>
              <a:r>
                <a:rPr lang="en-US" altLang="zh-CN" sz="900">
                  <a:solidFill>
                    <a:srgbClr val="00627A"/>
                  </a:solidFill>
                  <a:latin typeface="Fira Code" panose="020B0809050000020004" pitchFamily="49" charset="0"/>
                </a:rPr>
                <a:t>load_session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():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sessions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= []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os.path.exists(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    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for 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filename 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in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os.listdir(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"sessions"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.endswith(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".json"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            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.append(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filename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[:-</a:t>
              </a:r>
              <a:r>
                <a:rPr lang="en-US" altLang="zh-CN" sz="900">
                  <a:solidFill>
                    <a:srgbClr val="1750EB"/>
                  </a:solidFill>
                  <a:latin typeface="Fira Code" panose="020B0809050000020004" pitchFamily="49" charset="0"/>
                </a:rPr>
                <a:t>5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])</a:t>
              </a:r>
              <a:b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return </a:t>
              </a:r>
              <a:r>
                <a:rPr lang="en-US" altLang="zh-CN" sz="900">
                  <a:solidFill>
                    <a:srgbClr val="000080"/>
                  </a:solidFill>
                  <a:latin typeface="Fira Code" panose="020B0809050000020004" pitchFamily="49" charset="0"/>
                </a:rPr>
                <a:t>sorted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(</a:t>
              </a:r>
              <a:r>
                <a:rPr lang="en-US" altLang="zh-CN" sz="900">
                  <a:solidFill>
                    <a:srgbClr val="000000"/>
                  </a:solidFill>
                  <a:latin typeface="Fira Code" panose="020B0809050000020004" pitchFamily="49" charset="0"/>
                </a:rPr>
                <a:t>sessions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660099"/>
                  </a:solidFill>
                  <a:latin typeface="Fira Code" panose="020B0809050000020004" pitchFamily="49" charset="0"/>
                </a:rPr>
                <a:t>reverse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True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......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0C6A1F1E-A06F-CB56-AA5D-3E5A119264D5}"/>
                </a:ext>
              </a:extLst>
            </p:cNvPr>
            <p:cNvSpPr/>
            <p:nvPr/>
          </p:nvSpPr>
          <p:spPr>
            <a:xfrm>
              <a:off x="2297720" y="3660322"/>
              <a:ext cx="512509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session.py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F35A07B3-0F8E-1642-A1AE-549E13A7584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5E2CBB9-A1AC-EC9A-546F-B5AE7B26062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8EA2256-B693-E204-18D8-C565CAF959C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!!组合 33">
            <a:extLst>
              <a:ext uri="{FF2B5EF4-FFF2-40B4-BE49-F238E27FC236}">
                <a16:creationId xmlns:a16="http://schemas.microsoft.com/office/drawing/2014/main" id="{24940F3A-85C7-0C19-F204-CB5A0F3AE267}"/>
              </a:ext>
            </a:extLst>
          </p:cNvPr>
          <p:cNvGrpSpPr/>
          <p:nvPr/>
        </p:nvGrpSpPr>
        <p:grpSpPr>
          <a:xfrm>
            <a:off x="6490676" y="2335430"/>
            <a:ext cx="4651514" cy="3462396"/>
            <a:chOff x="2297720" y="3660322"/>
            <a:chExt cx="5125104" cy="346260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C5C9564F-6B8E-A269-1B76-44223A3A1D7D}"/>
                </a:ext>
              </a:extLst>
            </p:cNvPr>
            <p:cNvSpPr/>
            <p:nvPr/>
          </p:nvSpPr>
          <p:spPr>
            <a:xfrm>
              <a:off x="2297729" y="3660322"/>
              <a:ext cx="5125095" cy="3462601"/>
            </a:xfrm>
            <a:prstGeom prst="roundRect">
              <a:avLst>
                <a:gd name="adj" fmla="val 204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</a:rPr>
                <a:t>导入</a:t>
              </a:r>
              <a:endParaRPr lang="en-US" altLang="zh-CN" sz="900">
                <a:solidFill>
                  <a:schemeClr val="bg1">
                    <a:lumMod val="50000"/>
                  </a:schemeClr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from</a:t>
              </a:r>
              <a:r>
                <a:rPr lang="en-US" altLang="zh-CN" sz="9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 session 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import</a:t>
              </a:r>
              <a:r>
                <a:rPr lang="en-US" altLang="zh-CN" sz="9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 load_session, save_session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900">
                <a:solidFill>
                  <a:srgbClr val="8C8C8C"/>
                </a:solidFill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  <a:t>新建会话按钮</a:t>
              </a:r>
              <a:b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st.button(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900">
                  <a:solidFill>
                    <a:srgbClr val="067D17"/>
                  </a:solidFill>
                  <a:latin typeface="Courier New" panose="02070309020205020404" pitchFamily="49" charset="0"/>
                </a:rPr>
                <a:t>新建会话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660099"/>
                  </a:solidFill>
                  <a:latin typeface="Fira Code" panose="020B0809050000020004" pitchFamily="49" charset="0"/>
                </a:rPr>
                <a:t>icon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67D17"/>
                  </a:solidFill>
                  <a:latin typeface="Courier New" panose="02070309020205020404" pitchFamily="49" charset="0"/>
                </a:rPr>
                <a:t>✏️</a:t>
              </a:r>
              <a:r>
                <a:rPr lang="en-US" altLang="zh-CN" sz="9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en-US" altLang="zh-CN" sz="900">
                  <a:solidFill>
                    <a:srgbClr val="660099"/>
                  </a:solidFill>
                  <a:latin typeface="Fira Code" panose="020B0809050000020004" pitchFamily="49" charset="0"/>
                </a:rPr>
                <a:t>use_container_width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=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True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):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  <a:t>保存当前会话（如果有）</a:t>
              </a:r>
              <a:b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0033B3"/>
                  </a:solidFill>
                  <a:latin typeface="Fira Code" panose="020B0809050000020004" pitchFamily="49" charset="0"/>
                </a:rPr>
                <a:t>if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st.session_state.current_session: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    save_session(st.session_state.current_session)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9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  <a:t>创建新会话</a:t>
              </a:r>
              <a:b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</a:br>
              <a:r>
                <a:rPr lang="zh-CN" altLang="en-US" sz="900">
                  <a:solidFill>
                    <a:srgbClr val="8C8C8C"/>
                  </a:solidFill>
                  <a:latin typeface="Courier New" panose="02070309020205020404" pitchFamily="49" charset="0"/>
                </a:rPr>
                <a:t>    </a:t>
              </a: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new_session_name = generate_new_session_name()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st.session_state.current_session = new_session_name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st.session_state.messages = []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save_session(new_session_name)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st.session_state.sessions = load_sessions()</a:t>
              </a:r>
              <a:b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900">
                  <a:solidFill>
                    <a:srgbClr val="080808"/>
                  </a:solidFill>
                  <a:latin typeface="Fira Code" panose="020B0809050000020004" pitchFamily="49" charset="0"/>
                </a:rPr>
                <a:t>    st.rerun()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39291C25-E793-CF20-91BB-34748671AD69}"/>
                </a:ext>
              </a:extLst>
            </p:cNvPr>
            <p:cNvSpPr/>
            <p:nvPr/>
          </p:nvSpPr>
          <p:spPr>
            <a:xfrm>
              <a:off x="2297720" y="3660322"/>
              <a:ext cx="512509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ai_partner.py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24944AE-1B21-4BC1-D71E-84D751C6A29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A5D4651-7F0E-763D-33D4-41033C76DAE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433DA17-82BE-A1FB-2444-F4673CC10FE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6A91D65-A646-C518-9C9B-B81ED95EB235}"/>
              </a:ext>
            </a:extLst>
          </p:cNvPr>
          <p:cNvGrpSpPr/>
          <p:nvPr/>
        </p:nvGrpSpPr>
        <p:grpSpPr>
          <a:xfrm>
            <a:off x="966241" y="6347433"/>
            <a:ext cx="10480694" cy="348335"/>
            <a:chOff x="4685665" y="1834757"/>
            <a:chExt cx="10552693" cy="348335"/>
          </a:xfrm>
        </p:grpSpPr>
        <p:sp>
          <p:nvSpPr>
            <p:cNvPr id="35" name="ComponentBackground2">
              <a:extLst>
                <a:ext uri="{FF2B5EF4-FFF2-40B4-BE49-F238E27FC236}">
                  <a16:creationId xmlns:a16="http://schemas.microsoft.com/office/drawing/2014/main" id="{157FDF0B-4950-E006-F139-3F9729C5D756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每一个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python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文件都可以作为一个模块，</a:t>
              </a:r>
              <a:r>
                <a:rPr kumimoji="1" lang="zh-CN" altLang="en-US" sz="1200" kern="0">
                  <a:solidFill>
                    <a:srgbClr val="C00000"/>
                  </a:solidFill>
                  <a:ea typeface="微软雅黑"/>
                </a:rPr>
                <a:t>模块的名字就是文件的名字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（建议使用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python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标识符定义，规范命名）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6" name="Shape2">
              <a:extLst>
                <a:ext uri="{FF2B5EF4-FFF2-40B4-BE49-F238E27FC236}">
                  <a16:creationId xmlns:a16="http://schemas.microsoft.com/office/drawing/2014/main" id="{9D2485B3-D8DF-841E-F8EF-67467CEEF953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93E45C3-99F7-580F-53A2-1B805FDA47D0}"/>
              </a:ext>
            </a:extLst>
          </p:cNvPr>
          <p:cNvSpPr/>
          <p:nvPr/>
        </p:nvSpPr>
        <p:spPr>
          <a:xfrm>
            <a:off x="6490676" y="2787829"/>
            <a:ext cx="4651506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943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3852A-11B8-E472-741E-92E8BBB9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808F88-7CAE-3BFA-18E4-79F2E7E08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r>
              <a:rPr lang="en-US" altLang="zh-CN"/>
              <a:t>__all__</a:t>
            </a:r>
            <a:r>
              <a:rPr lang="zh-CN" altLang="en-US"/>
              <a:t>是一个模块级别的特殊变量，用于指定 </a:t>
            </a:r>
            <a:r>
              <a:rPr lang="en-US" altLang="zh-CN">
                <a:solidFill>
                  <a:srgbClr val="C00000"/>
                </a:solidFill>
              </a:rPr>
              <a:t>from </a:t>
            </a:r>
            <a:r>
              <a:rPr lang="zh-CN" altLang="en-US">
                <a:solidFill>
                  <a:srgbClr val="C00000"/>
                </a:solidFill>
              </a:rPr>
              <a:t>模块名 </a:t>
            </a:r>
            <a:r>
              <a:rPr lang="en-US" altLang="zh-CN">
                <a:solidFill>
                  <a:srgbClr val="C00000"/>
                </a:solidFill>
              </a:rPr>
              <a:t>import *</a:t>
            </a:r>
            <a:r>
              <a:rPr lang="en-US" altLang="zh-CN"/>
              <a:t> </a:t>
            </a:r>
            <a:r>
              <a:rPr lang="zh-CN" altLang="en-US"/>
              <a:t>时会导入哪些功能</a:t>
            </a:r>
            <a:r>
              <a:rPr lang="en-US" altLang="zh-CN"/>
              <a:t>(*</a:t>
            </a:r>
            <a:r>
              <a:rPr lang="zh-CN" altLang="en-US"/>
              <a:t>通配了哪些功能</a:t>
            </a:r>
            <a:r>
              <a:rPr lang="en-US" altLang="zh-CN"/>
              <a:t>)</a:t>
            </a:r>
            <a:r>
              <a:rPr lang="zh-CN" altLang="en-US"/>
              <a:t>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AA55336-B0D2-E477-E5FE-FEE566B8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__all__</a:t>
            </a:r>
            <a:endParaRPr lang="zh-CN" altLang="en-US"/>
          </a:p>
        </p:txBody>
      </p:sp>
      <p:grpSp>
        <p:nvGrpSpPr>
          <p:cNvPr id="2" name="!!组合 33">
            <a:extLst>
              <a:ext uri="{FF2B5EF4-FFF2-40B4-BE49-F238E27FC236}">
                <a16:creationId xmlns:a16="http://schemas.microsoft.com/office/drawing/2014/main" id="{850C5323-6345-48E0-570F-8AD7CF225696}"/>
              </a:ext>
            </a:extLst>
          </p:cNvPr>
          <p:cNvGrpSpPr/>
          <p:nvPr/>
        </p:nvGrpSpPr>
        <p:grpSpPr>
          <a:xfrm>
            <a:off x="692850" y="1697802"/>
            <a:ext cx="4651514" cy="4331938"/>
            <a:chOff x="2297720" y="3660322"/>
            <a:chExt cx="5125104" cy="433219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8D2CEBAB-BD89-FFF3-1E05-D75EA089C911}"/>
                </a:ext>
              </a:extLst>
            </p:cNvPr>
            <p:cNvSpPr/>
            <p:nvPr/>
          </p:nvSpPr>
          <p:spPr>
            <a:xfrm>
              <a:off x="2297729" y="3660322"/>
              <a:ext cx="5125095" cy="4332195"/>
            </a:xfrm>
            <a:prstGeom prst="roundRect">
              <a:avLst>
                <a:gd name="adj" fmla="val 147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__all__ = [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"log_separator1"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"log_separator3"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"PI"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]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PI =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3.1415926</a:t>
              </a:r>
              <a:b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NAME 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黑马☆涛哥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b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log_separator1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"- "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log_separator2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"+ "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log_separator3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"# "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def </a:t>
              </a:r>
              <a:r>
                <a:rPr lang="en-US" altLang="zh-CN" sz="1100">
                  <a:solidFill>
                    <a:srgbClr val="00627A"/>
                  </a:solidFill>
                  <a:effectLst/>
                  <a:latin typeface="Fira Code" panose="020B0809050000020004" pitchFamily="49" charset="0"/>
                </a:rPr>
                <a:t>log_separator4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():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"* "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 </a:t>
              </a:r>
              <a:r>
                <a:rPr lang="en-US" altLang="zh-CN" sz="11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30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2E368D96-E5FF-DD06-A740-8A4263C6A2BF}"/>
                </a:ext>
              </a:extLst>
            </p:cNvPr>
            <p:cNvSpPr/>
            <p:nvPr/>
          </p:nvSpPr>
          <p:spPr>
            <a:xfrm>
              <a:off x="2297720" y="3660322"/>
              <a:ext cx="512509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my.py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796878B-3F63-9E4D-5AC3-0DA3D8228B6D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48DB8EF-D591-76CF-367A-A08E87945F3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03FDB85-16CF-CC03-8C96-F9E2DDDB52E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!!组合 33">
            <a:extLst>
              <a:ext uri="{FF2B5EF4-FFF2-40B4-BE49-F238E27FC236}">
                <a16:creationId xmlns:a16="http://schemas.microsoft.com/office/drawing/2014/main" id="{EE2E325F-CF7E-8896-AC44-F6F84F83EAF3}"/>
              </a:ext>
            </a:extLst>
          </p:cNvPr>
          <p:cNvGrpSpPr/>
          <p:nvPr/>
        </p:nvGrpSpPr>
        <p:grpSpPr>
          <a:xfrm>
            <a:off x="6106437" y="1697801"/>
            <a:ext cx="4651514" cy="2595903"/>
            <a:chOff x="2297720" y="3660321"/>
            <a:chExt cx="5125104" cy="2596057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8471E594-305B-1EC0-0DDB-73BCB6340020}"/>
                </a:ext>
              </a:extLst>
            </p:cNvPr>
            <p:cNvSpPr/>
            <p:nvPr/>
          </p:nvSpPr>
          <p:spPr>
            <a:xfrm>
              <a:off x="2297729" y="3660321"/>
              <a:ext cx="5125095" cy="2596057"/>
            </a:xfrm>
            <a:prstGeom prst="roundRect">
              <a:avLst>
                <a:gd name="adj" fmla="val 274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from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my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import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*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log_separator1()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log_separator3()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log_separator2()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  <a:t>log_separator4()</a:t>
              </a:r>
              <a:b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br>
                <a:rPr lang="en-US" altLang="zh-CN" sz="1100">
                  <a:solidFill>
                    <a:srgbClr val="080808"/>
                  </a:solidFill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(PI)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(NAME)</a:t>
              </a: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3061670F-5118-7423-AA5F-D4E2D0479F33}"/>
                </a:ext>
              </a:extLst>
            </p:cNvPr>
            <p:cNvSpPr/>
            <p:nvPr/>
          </p:nvSpPr>
          <p:spPr>
            <a:xfrm>
              <a:off x="2297720" y="3660322"/>
              <a:ext cx="512509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test.py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18D0E6CF-CCCB-0369-AF39-16DF6C80784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AF93E88-7E8D-4FC5-B85F-0FC9D2959190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F1605C9-0680-8802-637E-6685BBBE00D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B3CE943-C2F5-EA4E-DA1D-5BD5E7B576F0}"/>
              </a:ext>
            </a:extLst>
          </p:cNvPr>
          <p:cNvSpPr/>
          <p:nvPr/>
        </p:nvSpPr>
        <p:spPr>
          <a:xfrm>
            <a:off x="6106437" y="3008244"/>
            <a:ext cx="4651506" cy="470452"/>
          </a:xfrm>
          <a:prstGeom prst="roundRect">
            <a:avLst>
              <a:gd name="adj" fmla="val 8216"/>
            </a:avLst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B4E8819-9EB8-35B7-CBB4-B06B80052AD8}"/>
              </a:ext>
            </a:extLst>
          </p:cNvPr>
          <p:cNvSpPr/>
          <p:nvPr/>
        </p:nvSpPr>
        <p:spPr>
          <a:xfrm>
            <a:off x="6106437" y="3982278"/>
            <a:ext cx="4651506" cy="265044"/>
          </a:xfrm>
          <a:prstGeom prst="roundRect">
            <a:avLst>
              <a:gd name="adj" fmla="val 13216"/>
            </a:avLst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A4AB9CB-4428-C4BE-9F77-D2019A20A3E7}"/>
              </a:ext>
            </a:extLst>
          </p:cNvPr>
          <p:cNvSpPr/>
          <p:nvPr/>
        </p:nvSpPr>
        <p:spPr>
          <a:xfrm>
            <a:off x="692850" y="1975099"/>
            <a:ext cx="4651506" cy="270174"/>
          </a:xfrm>
          <a:prstGeom prst="roundRect">
            <a:avLst>
              <a:gd name="adj" fmla="val 8216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4EA3179-DA57-B70D-7658-5B8EB8805AED}"/>
              </a:ext>
            </a:extLst>
          </p:cNvPr>
          <p:cNvSpPr/>
          <p:nvPr/>
        </p:nvSpPr>
        <p:spPr>
          <a:xfrm>
            <a:off x="7388085" y="1980911"/>
            <a:ext cx="215765" cy="270174"/>
          </a:xfrm>
          <a:prstGeom prst="roundRect">
            <a:avLst>
              <a:gd name="adj" fmla="val 8216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乘号 19">
            <a:extLst>
              <a:ext uri="{FF2B5EF4-FFF2-40B4-BE49-F238E27FC236}">
                <a16:creationId xmlns:a16="http://schemas.microsoft.com/office/drawing/2014/main" id="{79AC6A81-FAD2-90B1-314C-3A1D33DEED13}"/>
              </a:ext>
            </a:extLst>
          </p:cNvPr>
          <p:cNvSpPr/>
          <p:nvPr/>
        </p:nvSpPr>
        <p:spPr>
          <a:xfrm>
            <a:off x="10182881" y="3034748"/>
            <a:ext cx="490330" cy="417444"/>
          </a:xfrm>
          <a:prstGeom prst="mathMultiply">
            <a:avLst>
              <a:gd name="adj1" fmla="val 1399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乘号 20">
            <a:extLst>
              <a:ext uri="{FF2B5EF4-FFF2-40B4-BE49-F238E27FC236}">
                <a16:creationId xmlns:a16="http://schemas.microsoft.com/office/drawing/2014/main" id="{F6DBDE66-E567-C6A4-C07A-E44D804FD278}"/>
              </a:ext>
            </a:extLst>
          </p:cNvPr>
          <p:cNvSpPr/>
          <p:nvPr/>
        </p:nvSpPr>
        <p:spPr>
          <a:xfrm>
            <a:off x="10182881" y="3929268"/>
            <a:ext cx="490330" cy="417444"/>
          </a:xfrm>
          <a:prstGeom prst="mathMultiply">
            <a:avLst>
              <a:gd name="adj1" fmla="val 1399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A8F0866-6527-40F3-C471-2421F5DB2EA5}"/>
              </a:ext>
            </a:extLst>
          </p:cNvPr>
          <p:cNvGrpSpPr/>
          <p:nvPr/>
        </p:nvGrpSpPr>
        <p:grpSpPr>
          <a:xfrm>
            <a:off x="692850" y="6359154"/>
            <a:ext cx="10480694" cy="348335"/>
            <a:chOff x="4685665" y="1834757"/>
            <a:chExt cx="10552693" cy="348335"/>
          </a:xfrm>
        </p:grpSpPr>
        <p:sp>
          <p:nvSpPr>
            <p:cNvPr id="23" name="ComponentBackground2">
              <a:extLst>
                <a:ext uri="{FF2B5EF4-FFF2-40B4-BE49-F238E27FC236}">
                  <a16:creationId xmlns:a16="http://schemas.microsoft.com/office/drawing/2014/main" id="{69600B15-1597-7952-0E92-7BF901326F19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__all__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控制的是 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from ... import *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时，要导入的功能，并不会影响直接导入具体的功能（如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: from ... import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功能）</a:t>
              </a: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4" name="Shape2">
              <a:extLst>
                <a:ext uri="{FF2B5EF4-FFF2-40B4-BE49-F238E27FC236}">
                  <a16:creationId xmlns:a16="http://schemas.microsoft.com/office/drawing/2014/main" id="{FFCF9652-3E9E-8394-C713-EE0425D9DE0D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822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0BF0-DF36-3E22-7E8B-60ECAD22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1825F6B-8A56-E7CA-7950-DF2CAA95F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5728" y="1359878"/>
            <a:ext cx="8376271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__name__ </a:t>
            </a:r>
            <a:r>
              <a:rPr lang="zh-CN" altLang="en-US"/>
              <a:t>与 </a:t>
            </a:r>
            <a:r>
              <a:rPr lang="en-US" altLang="zh-CN"/>
              <a:t>__all__ </a:t>
            </a:r>
            <a:r>
              <a:rPr lang="zh-CN" altLang="en-US"/>
              <a:t>这两个特殊变量的作用是什么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/>
              <a:t>__name__</a:t>
            </a:r>
            <a:r>
              <a:rPr lang="zh-CN" altLang="en-US" sz="1400"/>
              <a:t>是</a:t>
            </a:r>
            <a:r>
              <a:rPr lang="en-US" altLang="zh-CN" sz="1400"/>
              <a:t>Python</a:t>
            </a:r>
            <a:r>
              <a:rPr lang="zh-CN" altLang="en-US" sz="1400"/>
              <a:t>中非常重要的内置变量，表示的是当前模块的名称</a:t>
            </a:r>
            <a:endParaRPr lang="en-US" altLang="zh-CN" sz="1400"/>
          </a:p>
          <a:p>
            <a:pPr marL="936000" lvl="2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当模块直接运行时：</a:t>
            </a:r>
            <a:r>
              <a:rPr lang="en-US" altLang="zh-CN" sz="1400"/>
              <a:t>__name__</a:t>
            </a:r>
            <a:r>
              <a:rPr lang="zh-CN" altLang="en-US" sz="1400"/>
              <a:t>的值为</a:t>
            </a:r>
            <a:r>
              <a:rPr lang="en-US" altLang="zh-CN" sz="1400"/>
              <a:t>"__main__" (if __name__ == "__main__")</a:t>
            </a:r>
          </a:p>
          <a:p>
            <a:pPr marL="936000" lvl="2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当模块被导入时：</a:t>
            </a:r>
            <a:r>
              <a:rPr lang="en-US" altLang="zh-CN" sz="1400"/>
              <a:t>__name__</a:t>
            </a:r>
            <a:r>
              <a:rPr lang="zh-CN" altLang="en-US" sz="1400"/>
              <a:t>等于模块的文件名</a:t>
            </a:r>
            <a:r>
              <a:rPr lang="en-US" altLang="zh-CN" sz="1400"/>
              <a:t>(</a:t>
            </a:r>
            <a:r>
              <a:rPr lang="zh-CN" altLang="en-US" sz="1400"/>
              <a:t>不含</a:t>
            </a:r>
            <a:r>
              <a:rPr lang="en-US" altLang="zh-CN" sz="1400"/>
              <a:t>.py</a:t>
            </a:r>
            <a:r>
              <a:rPr lang="zh-CN" altLang="en-US" sz="1400"/>
              <a:t>后缀</a:t>
            </a:r>
            <a:r>
              <a:rPr lang="en-US" altLang="zh-CN" sz="1400"/>
              <a:t>)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400"/>
              <a:t>__all__</a:t>
            </a:r>
            <a:r>
              <a:rPr lang="zh-CN" altLang="en-US" sz="1400"/>
              <a:t>：控制 </a:t>
            </a:r>
            <a:r>
              <a:rPr lang="en-US" altLang="zh-CN" sz="1400"/>
              <a:t>import * </a:t>
            </a:r>
            <a:r>
              <a:rPr lang="zh-CN" altLang="en-US" sz="1400"/>
              <a:t>时导入哪些功能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36290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E76B-0923-F975-AB08-B3F2F0DF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5A482BAC-3334-5C13-8313-A45AC723A197}"/>
              </a:ext>
            </a:extLst>
          </p:cNvPr>
          <p:cNvGrpSpPr/>
          <p:nvPr/>
        </p:nvGrpSpPr>
        <p:grpSpPr>
          <a:xfrm>
            <a:off x="923735" y="547144"/>
            <a:ext cx="1621446" cy="1872814"/>
            <a:chOff x="1469859" y="770995"/>
            <a:chExt cx="1621446" cy="1872814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5A6B25E6-769E-D4AB-C6D9-41F4F3A214E2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AA9031C4-9BEA-B263-CF9E-0D37404C58E7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5" name="任意多边形: 形状 4">
                  <a:extLst>
                    <a:ext uri="{FF2B5EF4-FFF2-40B4-BE49-F238E27FC236}">
                      <a16:creationId xmlns:a16="http://schemas.microsoft.com/office/drawing/2014/main" id="{38189F24-FDA6-CF1D-D5D6-CFE3F01381F1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data_query.py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6" name="任意多边形: 形状 5">
                  <a:extLst>
                    <a:ext uri="{FF2B5EF4-FFF2-40B4-BE49-F238E27FC236}">
                      <a16:creationId xmlns:a16="http://schemas.microsoft.com/office/drawing/2014/main" id="{45DCA4FA-8065-2124-7AA2-A70EB9A4330F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107AA5C-889C-D0F3-4517-1ACF0F5297EE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6554024-737B-7A67-D7CC-077AF6342B3B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30BF915-64CA-36F4-63AB-7E2DBC2B38FB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0B6CBD27-3D00-327C-1A26-2DE238BB31D4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A5477AA-A170-8BEF-9F33-A1116712D9B3}"/>
              </a:ext>
            </a:extLst>
          </p:cNvPr>
          <p:cNvGrpSpPr/>
          <p:nvPr/>
        </p:nvGrpSpPr>
        <p:grpSpPr>
          <a:xfrm>
            <a:off x="3042131" y="591258"/>
            <a:ext cx="1621446" cy="1872814"/>
            <a:chOff x="1469859" y="770995"/>
            <a:chExt cx="1621446" cy="1872814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C0268AC-B4F7-88C7-7AA5-0CF9B59C71E1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846B7208-BF50-645F-A192-6C517E88815E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FC5B0777-FD04-CFD8-408E-7A063B877B3E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data_handle.py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B0045178-ACD0-BBD1-D2CA-A5D6CE58BC20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9834872-671C-E74A-D133-8D37ED2E55CF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292AFF1-0B66-E761-1449-9302877C7145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6C4801AA-5728-35E2-C139-58B84383D85F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1E95407-5B48-F565-F976-71786A0F8B6B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60D045E-28C4-1393-D6C9-5CDA4452E2A9}"/>
              </a:ext>
            </a:extLst>
          </p:cNvPr>
          <p:cNvGrpSpPr/>
          <p:nvPr/>
        </p:nvGrpSpPr>
        <p:grpSpPr>
          <a:xfrm>
            <a:off x="8209764" y="4093135"/>
            <a:ext cx="1621446" cy="1872814"/>
            <a:chOff x="1469859" y="770995"/>
            <a:chExt cx="1621446" cy="1872814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FD49EE8-CE3F-2B3E-6DF6-76783417042A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CA66C43D-BDC5-6AAA-292E-9136546790AF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06876680-D69A-253A-B6A5-E49426EE0B4E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data_model.py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135D1936-9CC5-F034-0D9E-2903215A7128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D8D1C1C-830D-E755-9345-FF340F396642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234B4DF8-30A0-236A-D2EB-05548ACF9D2A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9FDA1A75-E25E-E5B3-BFB2-237345041037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EBF7D9F-76B4-425E-9BB2-757B01D7CF34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7C955CA-47C5-B3D8-284B-50800B5D9C6B}"/>
              </a:ext>
            </a:extLst>
          </p:cNvPr>
          <p:cNvGrpSpPr/>
          <p:nvPr/>
        </p:nvGrpSpPr>
        <p:grpSpPr>
          <a:xfrm>
            <a:off x="5271438" y="430703"/>
            <a:ext cx="1621446" cy="1872814"/>
            <a:chOff x="1469859" y="770995"/>
            <a:chExt cx="1621446" cy="1872814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8DDB693-CF20-998F-727F-49DB4EF53D30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03ACEC4B-7226-92B2-2E4A-55B242246916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812BBEA4-E418-10A2-3DBB-9B1368320C53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data_analysis.py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E981EA0F-CDD7-BFBF-8FCB-8A1E25788D00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001194-7767-A683-E004-0F608820C8BA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3EC90323-1E99-95CB-FA99-B9A1BB9713DA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0263AB1C-3F45-14AB-DEC1-77A04C753B20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BD05B31-43D0-7702-DA69-D4FF5F3E5A04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B821938B-06EF-F30C-C062-2F5D1404B59A}"/>
              </a:ext>
            </a:extLst>
          </p:cNvPr>
          <p:cNvGrpSpPr/>
          <p:nvPr/>
        </p:nvGrpSpPr>
        <p:grpSpPr>
          <a:xfrm>
            <a:off x="7302050" y="1228313"/>
            <a:ext cx="1621446" cy="1872814"/>
            <a:chOff x="1469859" y="770995"/>
            <a:chExt cx="1621446" cy="187281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066D680A-90C2-C6E7-F61F-4AE8CAB0D75B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570F9DEF-831B-B953-473B-0722F5686316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5CAC4588-DC79-F2AA-542C-FB6D877B3E1B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web_routes.py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9F2FF3B4-B1E6-5C8D-19C1-044C58FCF654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94B0D1E9-C35B-97EF-349F-DF1B48707099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BF1B0E81-F407-88E9-BD35-4A6DBB3B174F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7623884E-ED68-77F2-2B62-A60EA7E3DE48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BFB10748-41B9-5588-2196-AB593F0A5D94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53F94D1-EC59-1836-6D68-45F75572B7B7}"/>
              </a:ext>
            </a:extLst>
          </p:cNvPr>
          <p:cNvGrpSpPr/>
          <p:nvPr/>
        </p:nvGrpSpPr>
        <p:grpSpPr>
          <a:xfrm>
            <a:off x="635712" y="3150089"/>
            <a:ext cx="1621446" cy="1872814"/>
            <a:chOff x="1469859" y="770995"/>
            <a:chExt cx="1621446" cy="1872814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4370AB2-3D35-5674-47F3-C8638EDBF2C8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31BDCBE9-6D45-F0CA-A38C-EA53F1955B33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09337CAE-4A6D-DEED-1DE7-5B9EA2A944CE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web_auth.py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45CC8B79-7A72-2FED-F428-ED5F96D2ADDC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793D692-7249-CE47-E26A-02D414858B70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115658D4-E0B6-9405-DFC0-770C3E88D779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80F58CF3-E3DD-83AC-7433-F836FE3ABDCD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E7CD14EA-13F3-E6EF-4B76-73EC1E4AE116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EF7C636-D4C9-6E16-AEB4-B5CB46FA4A57}"/>
              </a:ext>
            </a:extLst>
          </p:cNvPr>
          <p:cNvGrpSpPr/>
          <p:nvPr/>
        </p:nvGrpSpPr>
        <p:grpSpPr>
          <a:xfrm>
            <a:off x="2668794" y="2771830"/>
            <a:ext cx="1621446" cy="1872814"/>
            <a:chOff x="1469859" y="770995"/>
            <a:chExt cx="1621446" cy="1872814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B7AB9176-BCD2-3FC4-CE24-77D1A3EA5A83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5B4E8412-1F4B-9CE0-BB86-955E2740AD8A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08741472-62BA-7DF8-89DA-C6427F1238C8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helpers.py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4821101D-DC39-3757-CFA6-C253FBDD3657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4E63E52-11A0-64A6-15D4-BB842ACBE354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D0C94CAC-24E5-839B-4C69-8077785D4005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BE86C547-FD62-F4CF-5294-4BFBB18FEBCC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395F3FA6-F9D8-53A5-A5DA-A711839E2383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B35E8A49-8A96-DDF0-08E1-29579E14769E}"/>
              </a:ext>
            </a:extLst>
          </p:cNvPr>
          <p:cNvGrpSpPr/>
          <p:nvPr/>
        </p:nvGrpSpPr>
        <p:grpSpPr>
          <a:xfrm>
            <a:off x="10165339" y="3181464"/>
            <a:ext cx="1621446" cy="1872814"/>
            <a:chOff x="1469859" y="770995"/>
            <a:chExt cx="1621446" cy="1872814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E33A5C8A-240A-E669-59D2-5FAED79BE23E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48EB77F6-0D3F-5399-AB98-151AA64BCD07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72" name="任意多边形: 形状 71">
                  <a:extLst>
                    <a:ext uri="{FF2B5EF4-FFF2-40B4-BE49-F238E27FC236}">
                      <a16:creationId xmlns:a16="http://schemas.microsoft.com/office/drawing/2014/main" id="{54519635-B54B-C05E-23CF-69C4BD61AA6C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file.py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3F5AF392-392E-6555-5C65-7EED29796E70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4295C4F-8343-9F3A-D4D1-736A6408A4ED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0B9EB8DB-3EE4-DCA9-F7F4-886BA6B2EC42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927C3782-0FDD-5254-9859-1F71BA7D1701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01105C1F-4CD4-C9DF-43BE-D1F91775BBF8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5481A40-9D49-5605-934C-CD0904C9DCD0}"/>
              </a:ext>
            </a:extLst>
          </p:cNvPr>
          <p:cNvGrpSpPr/>
          <p:nvPr/>
        </p:nvGrpSpPr>
        <p:grpSpPr>
          <a:xfrm>
            <a:off x="6094804" y="4770625"/>
            <a:ext cx="1621446" cy="1872814"/>
            <a:chOff x="1469859" y="770995"/>
            <a:chExt cx="1621446" cy="1872814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638C4B34-5892-90CB-2AA7-438956F7C68B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5E2337D7-CCD4-BFF3-1EF6-1F130CFDC355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81" name="任意多边形: 形状 80">
                  <a:extLst>
                    <a:ext uri="{FF2B5EF4-FFF2-40B4-BE49-F238E27FC236}">
                      <a16:creationId xmlns:a16="http://schemas.microsoft.com/office/drawing/2014/main" id="{260130CB-494C-4458-55DC-7D486507A68D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format.py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82" name="任意多边形: 形状 81">
                  <a:extLst>
                    <a:ext uri="{FF2B5EF4-FFF2-40B4-BE49-F238E27FC236}">
                      <a16:creationId xmlns:a16="http://schemas.microsoft.com/office/drawing/2014/main" id="{587092C4-A8F9-20CA-4622-4BB9BB9ACA67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E0B753BC-3E16-4EBC-A438-D60F131C9FF5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4638B763-9CBD-C4B6-11F7-94330D04D50A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70F54688-6031-E907-05A0-7EDE19F39497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39619CE8-31E5-758B-122D-7BC5F002F343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A2C06C7B-6B1B-D928-3251-1E40E7FDBEFC}"/>
              </a:ext>
            </a:extLst>
          </p:cNvPr>
          <p:cNvGrpSpPr/>
          <p:nvPr/>
        </p:nvGrpSpPr>
        <p:grpSpPr>
          <a:xfrm>
            <a:off x="9388896" y="946124"/>
            <a:ext cx="1621446" cy="1872814"/>
            <a:chOff x="1469859" y="770995"/>
            <a:chExt cx="1621446" cy="1872814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B3156BCF-22C6-9776-27B7-1C3053C4B2E0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4B275143-F098-FEEF-2437-009B6669672C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90" name="任意多边形: 形状 89">
                  <a:extLst>
                    <a:ext uri="{FF2B5EF4-FFF2-40B4-BE49-F238E27FC236}">
                      <a16:creationId xmlns:a16="http://schemas.microsoft.com/office/drawing/2014/main" id="{5087BF9A-9DA4-ABBA-219D-776587939007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token.py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91" name="任意多边形: 形状 90">
                  <a:extLst>
                    <a:ext uri="{FF2B5EF4-FFF2-40B4-BE49-F238E27FC236}">
                      <a16:creationId xmlns:a16="http://schemas.microsoft.com/office/drawing/2014/main" id="{B073D994-594A-B5E6-0ECC-F48FAC3CCCAD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B8BB871F-1041-C9F5-FFE7-9F358502AB9F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12A49456-1C82-33C5-DE5D-A372CF9BC82C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C3F45B2E-2973-8B4F-8843-F267740BAE59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21AC6D29-F358-E8C9-CCE8-683CB97B0B4D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B751F34B-610B-232F-A99D-398B2B6FCEA0}"/>
              </a:ext>
            </a:extLst>
          </p:cNvPr>
          <p:cNvGrpSpPr/>
          <p:nvPr/>
        </p:nvGrpSpPr>
        <p:grpSpPr>
          <a:xfrm>
            <a:off x="5249801" y="2729025"/>
            <a:ext cx="1621446" cy="1872814"/>
            <a:chOff x="1469859" y="770995"/>
            <a:chExt cx="1621446" cy="1872814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62EC6886-51D8-F365-1009-FB906317C324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97" name="组合 96">
                <a:extLst>
                  <a:ext uri="{FF2B5EF4-FFF2-40B4-BE49-F238E27FC236}">
                    <a16:creationId xmlns:a16="http://schemas.microsoft.com/office/drawing/2014/main" id="{38F0E6D0-60F1-FDC5-BDCA-D95695B877D7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99" name="任意多边形: 形状 98">
                  <a:extLst>
                    <a:ext uri="{FF2B5EF4-FFF2-40B4-BE49-F238E27FC236}">
                      <a16:creationId xmlns:a16="http://schemas.microsoft.com/office/drawing/2014/main" id="{BBEF8A5E-5250-76A1-2DC5-F7F7C8B51360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log.py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00" name="任意多边形: 形状 99">
                  <a:extLst>
                    <a:ext uri="{FF2B5EF4-FFF2-40B4-BE49-F238E27FC236}">
                      <a16:creationId xmlns:a16="http://schemas.microsoft.com/office/drawing/2014/main" id="{185833DA-EBBC-42E4-0453-6E79FB4B658D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01EB9594-9DB9-C4B3-D3FD-7B2DDF0EEAE0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0D1E1BA0-B408-3A64-F714-5B6F8BB4FAD0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9B31B076-3ABC-D69A-E293-85EEC00DA443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5CEE1295-F111-8C8E-D1F7-622A64A17EF0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EC5ABACF-0513-8577-0902-6D7C12C523CD}"/>
              </a:ext>
            </a:extLst>
          </p:cNvPr>
          <p:cNvGrpSpPr/>
          <p:nvPr/>
        </p:nvGrpSpPr>
        <p:grpSpPr>
          <a:xfrm>
            <a:off x="3769548" y="4823887"/>
            <a:ext cx="1621446" cy="1872814"/>
            <a:chOff x="1469859" y="770995"/>
            <a:chExt cx="1621446" cy="1872814"/>
          </a:xfrm>
        </p:grpSpPr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D31F273E-5C4A-1103-20BE-DC25E271B3BB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5E6AFAA2-01B0-F47E-6633-2BFCE5BD1001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108" name="任意多边形: 形状 107">
                  <a:extLst>
                    <a:ext uri="{FF2B5EF4-FFF2-40B4-BE49-F238E27FC236}">
                      <a16:creationId xmlns:a16="http://schemas.microsoft.com/office/drawing/2014/main" id="{F6D46954-782F-BC46-1460-F8359E502275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/>
                </a:p>
                <a:p>
                  <a:pPr algn="ctr"/>
                  <a:endParaRPr lang="en-US" altLang="zh-CN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1050">
                      <a:solidFill>
                        <a:schemeClr val="tx1">
                          <a:lumMod val="50000"/>
                        </a:schemeClr>
                      </a:solidFill>
                    </a:rPr>
                    <a:t>web_service.py</a:t>
                  </a:r>
                  <a:endParaRPr lang="zh-CN" altLang="en-US" sz="105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09" name="任意多边形: 形状 108">
                  <a:extLst>
                    <a:ext uri="{FF2B5EF4-FFF2-40B4-BE49-F238E27FC236}">
                      <a16:creationId xmlns:a16="http://schemas.microsoft.com/office/drawing/2014/main" id="{E956E6CD-E35F-3EBE-071C-EF466AD42B35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267861C4-F3E4-8944-8B65-4C73DE6E27F1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499" cy="294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55B04E4A-D2B8-9FF1-55B8-EE08953E0C36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5647A316-3123-7156-999E-3F0A5342B5DE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DA203725-E0F7-1273-926D-6DCC75226AAD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10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10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08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20000" decel="8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8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9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20000" decel="80000" fill="hold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14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15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6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20000" decel="80000" fill="hold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20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21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22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20000" decel="80000" fill="hold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27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28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20000" decel="80000" fill="hold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32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33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34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20000" decel="80000" fill="hold" nodeType="withEffect">
                                  <p:stCondLst>
                                    <p:cond delay="9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38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39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40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20000" decel="80000" fill="hold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3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44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45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46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20000" decel="80000" fill="hold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9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50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51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52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20000" decel="80000" fill="hold" nodeType="withEffect">
                                  <p:stCondLst>
                                    <p:cond delay="8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5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56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57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58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20000" decel="80000" fill="hold" nodeType="withEffect">
                                  <p:stCondLst>
                                    <p:cond delay="11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1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62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63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64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accel="20000" decel="80000" fill="hold" nodeType="withEffect">
                                  <p:stCondLst>
                                    <p:cond delay="3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7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68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69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70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20000" decel="80000" fill="hold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3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74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75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76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C4B0-3462-7E7D-6F9F-45742841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7E8D2274-1FAB-598A-D9AD-483799EA01EE}"/>
              </a:ext>
            </a:extLst>
          </p:cNvPr>
          <p:cNvSpPr/>
          <p:nvPr/>
        </p:nvSpPr>
        <p:spPr>
          <a:xfrm>
            <a:off x="5376707" y="1064061"/>
            <a:ext cx="4875736" cy="2018620"/>
          </a:xfrm>
          <a:prstGeom prst="roundRect">
            <a:avLst>
              <a:gd name="adj" fmla="val 2455"/>
            </a:avLst>
          </a:prstGeom>
          <a:solidFill>
            <a:srgbClr val="A7E8FF">
              <a:alpha val="20000"/>
            </a:srgb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F7A031C3-C756-3E09-5DF7-64443C3E8CD4}"/>
              </a:ext>
            </a:extLst>
          </p:cNvPr>
          <p:cNvSpPr/>
          <p:nvPr/>
        </p:nvSpPr>
        <p:spPr>
          <a:xfrm>
            <a:off x="4436915" y="3504044"/>
            <a:ext cx="7325653" cy="2102477"/>
          </a:xfrm>
          <a:prstGeom prst="roundRect">
            <a:avLst>
              <a:gd name="adj" fmla="val 2455"/>
            </a:avLst>
          </a:prstGeom>
          <a:solidFill>
            <a:srgbClr val="A7E8FF">
              <a:alpha val="20000"/>
            </a:srgb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en-US" altLang="zh-CN" sz="120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en-US" altLang="zh-CN" sz="120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5F92BF92-F1D5-C334-6682-C4E235B490DA}"/>
              </a:ext>
            </a:extLst>
          </p:cNvPr>
          <p:cNvSpPr/>
          <p:nvPr/>
        </p:nvSpPr>
        <p:spPr>
          <a:xfrm>
            <a:off x="671157" y="1090989"/>
            <a:ext cx="3571461" cy="4007090"/>
          </a:xfrm>
          <a:prstGeom prst="roundRect">
            <a:avLst>
              <a:gd name="adj" fmla="val 2455"/>
            </a:avLst>
          </a:prstGeom>
          <a:solidFill>
            <a:srgbClr val="A7E8FF">
              <a:alpha val="20000"/>
            </a:srgb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62F018E-E93D-3353-29CB-84257A6014E5}"/>
              </a:ext>
            </a:extLst>
          </p:cNvPr>
          <p:cNvGrpSpPr/>
          <p:nvPr/>
        </p:nvGrpSpPr>
        <p:grpSpPr>
          <a:xfrm>
            <a:off x="960487" y="1242502"/>
            <a:ext cx="1313161" cy="1516736"/>
            <a:chOff x="1469859" y="770995"/>
            <a:chExt cx="1621446" cy="1872814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446095F-1852-6AD9-7F8D-91B9EC85A114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4CB0B582-440E-3612-44B7-00B9101478DC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9" name="任意多边形: 形状 8">
                  <a:extLst>
                    <a:ext uri="{FF2B5EF4-FFF2-40B4-BE49-F238E27FC236}">
                      <a16:creationId xmlns:a16="http://schemas.microsoft.com/office/drawing/2014/main" id="{6691B4D9-20EC-5B37-58F4-66C95990589D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data_query.py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0" name="任意多边形: 形状 9">
                  <a:extLst>
                    <a:ext uri="{FF2B5EF4-FFF2-40B4-BE49-F238E27FC236}">
                      <a16:creationId xmlns:a16="http://schemas.microsoft.com/office/drawing/2014/main" id="{DBF05A9A-3F84-FA82-3690-041DA9CD798F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A696AC1-EAF3-F56C-3D72-1F3919562849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04919940-0948-FE2F-5BAC-4195D3226361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A15ABB2-74F4-E293-DE59-CD434C3A892D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C433B12-38F5-95BD-E9B2-41A775015CD7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1C19C85-CD10-34A3-154E-38090B06523F}"/>
              </a:ext>
            </a:extLst>
          </p:cNvPr>
          <p:cNvGrpSpPr/>
          <p:nvPr/>
        </p:nvGrpSpPr>
        <p:grpSpPr>
          <a:xfrm>
            <a:off x="2616583" y="3220175"/>
            <a:ext cx="1313161" cy="1516736"/>
            <a:chOff x="1469859" y="770995"/>
            <a:chExt cx="1621446" cy="1872814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4B53FA8-C51C-C19B-1D32-BB1C08E8F835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B9659736-6549-2A80-D1B0-E31844460A95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18" name="任意多边形: 形状 17">
                  <a:extLst>
                    <a:ext uri="{FF2B5EF4-FFF2-40B4-BE49-F238E27FC236}">
                      <a16:creationId xmlns:a16="http://schemas.microsoft.com/office/drawing/2014/main" id="{15EDB5B8-F085-FF00-1FFD-F4073BB66F9B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data_handle.py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9" name="任意多边形: 形状 18">
                  <a:extLst>
                    <a:ext uri="{FF2B5EF4-FFF2-40B4-BE49-F238E27FC236}">
                      <a16:creationId xmlns:a16="http://schemas.microsoft.com/office/drawing/2014/main" id="{20B458BE-4ADD-1873-CAD8-82D3DC0EF615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68FE8C0-64BE-CE07-4788-FA5236D31E32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58F7F64-A9E6-5A60-BE90-5CD295285825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0890DE3-9396-146D-4660-D42B48871497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8AFAF50B-C7E9-717E-0501-E22349CC4548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F80384A-AA4C-83CB-244E-F5A4A355E3B8}"/>
              </a:ext>
            </a:extLst>
          </p:cNvPr>
          <p:cNvGrpSpPr/>
          <p:nvPr/>
        </p:nvGrpSpPr>
        <p:grpSpPr>
          <a:xfrm>
            <a:off x="2628020" y="1276625"/>
            <a:ext cx="1313161" cy="1516736"/>
            <a:chOff x="1469859" y="770995"/>
            <a:chExt cx="1621446" cy="1872814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75494316-C26C-2CFE-D6D1-F43EB9293952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AFF91F39-28A3-9A2D-B335-F328D9D1039A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27" name="任意多边形: 形状 26">
                  <a:extLst>
                    <a:ext uri="{FF2B5EF4-FFF2-40B4-BE49-F238E27FC236}">
                      <a16:creationId xmlns:a16="http://schemas.microsoft.com/office/drawing/2014/main" id="{4CD06342-EFE0-A5C4-9008-4C6CB65D3A4C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data_model.py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DDE81C2E-2DD8-0D10-DE0A-31AFB0081B7A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5C95EC4-3D8C-2656-D47A-2256560D3CAA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969D22E2-D53D-34FA-6B2D-9BBDBEEA5D90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9D5AB1FB-3C5A-32E1-D618-A0FD66165D39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0DA11A65-7B24-6328-558E-5BB8C92DDD59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6D68B06-7529-2051-4464-986995606C3F}"/>
              </a:ext>
            </a:extLst>
          </p:cNvPr>
          <p:cNvGrpSpPr/>
          <p:nvPr/>
        </p:nvGrpSpPr>
        <p:grpSpPr>
          <a:xfrm>
            <a:off x="960487" y="3206215"/>
            <a:ext cx="1313161" cy="1516736"/>
            <a:chOff x="1469859" y="770995"/>
            <a:chExt cx="1621446" cy="1872814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EA587AE6-0A53-86FB-5CCD-1FB7E4D0B5B2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A28840F5-C62A-DE60-D267-EF14D5E1E71E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C36E3DCB-B34A-E054-9654-C35FAD0D4579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rIns="0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data_analysis.py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298FA010-8D7A-F731-169C-B28022CE03C2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448E39B-F967-A8E8-BB75-0C21A54A537A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BB5FFA69-DA2B-FFD9-6541-AC4F02B46448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E72E4BCF-FE36-70F1-45AF-2017CC9D3855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A151F6F-3885-C40C-7A36-D7B0B92D19AA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B592E5C4-D758-E0B9-7E64-333AB3AF3CFA}"/>
              </a:ext>
            </a:extLst>
          </p:cNvPr>
          <p:cNvGrpSpPr/>
          <p:nvPr/>
        </p:nvGrpSpPr>
        <p:grpSpPr>
          <a:xfrm>
            <a:off x="7164050" y="1292996"/>
            <a:ext cx="1313161" cy="1516736"/>
            <a:chOff x="1469859" y="770995"/>
            <a:chExt cx="1621446" cy="187281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0227D70E-B022-2A27-AE81-9F27BA4725D3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AF947BB7-481A-9598-8131-A5202D5C2F0A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ABE0EDDC-284F-E9F2-7619-447BDC93715B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web_routes.py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6627760A-30F3-4FE1-F6FA-C1C428D1E0A2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B0E9A7A-7BF7-03FF-5E17-31F1C586AA33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2A1B15F1-6F3E-7770-A4FD-99D841817639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9520E53E-6770-D6F1-3244-4D4BDFBED1AA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011561E7-5698-4E0B-F5C0-903A71B0B0DC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537A480-A349-993A-DE11-8D35F6374F92}"/>
              </a:ext>
            </a:extLst>
          </p:cNvPr>
          <p:cNvGrpSpPr/>
          <p:nvPr/>
        </p:nvGrpSpPr>
        <p:grpSpPr>
          <a:xfrm>
            <a:off x="8784855" y="1306956"/>
            <a:ext cx="1313161" cy="1516736"/>
            <a:chOff x="1469859" y="770995"/>
            <a:chExt cx="1621446" cy="1872814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98E8C8FC-5C83-87E9-AEFF-F945EEBCDF0A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C4D48893-CFE8-94D3-99C6-8612FBEF45E6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F2E4BD73-FB88-8841-4CF8-7B437168AA6C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web_auth.py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09BBB073-902F-F866-CC32-6656A8BE38D2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A62D4466-587C-7601-8D0B-F7FFD6E030C5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CAB8372C-41F5-CE72-6DA5-5A1C4D557FAD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11343AE3-11C7-FEE7-36C7-7E55EB829E9C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2E1CCB14-876E-3A66-3A34-D045981A6342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D893348-E007-7447-CB28-FA727BD3A19E}"/>
              </a:ext>
            </a:extLst>
          </p:cNvPr>
          <p:cNvGrpSpPr/>
          <p:nvPr/>
        </p:nvGrpSpPr>
        <p:grpSpPr>
          <a:xfrm>
            <a:off x="8922495" y="3648023"/>
            <a:ext cx="1313161" cy="1516736"/>
            <a:chOff x="1469859" y="770995"/>
            <a:chExt cx="1621446" cy="1872814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17B84C23-3F99-FF46-3E12-A31ABE702095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02942780-3DC3-A04B-8E99-78092F27C300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0BD56450-D576-9D57-C2C0-D5A93E533393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helpers.py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EDD23B54-AB9B-DBD1-70F5-2E92267A3DB7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D3EE1AF-4AE8-2923-AB7E-1907A36B1B74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24434BB5-86E7-FAF5-57DB-A51C1198073A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D5E783D2-4B76-7EA4-2CC6-3F3DD4FB3201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5895468C-3F9D-7CF5-3761-1CC96CC6A8F0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6182FAB-8495-843F-CAC2-C89060B347A2}"/>
              </a:ext>
            </a:extLst>
          </p:cNvPr>
          <p:cNvGrpSpPr/>
          <p:nvPr/>
        </p:nvGrpSpPr>
        <p:grpSpPr>
          <a:xfrm>
            <a:off x="10342531" y="3654607"/>
            <a:ext cx="1313161" cy="1516736"/>
            <a:chOff x="1469859" y="770995"/>
            <a:chExt cx="1621446" cy="1872814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38E002C0-4645-1DD7-C37D-3419A2404866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ED4F4CC6-B904-1B9C-93A3-8438B5926425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72" name="任意多边形: 形状 71">
                  <a:extLst>
                    <a:ext uri="{FF2B5EF4-FFF2-40B4-BE49-F238E27FC236}">
                      <a16:creationId xmlns:a16="http://schemas.microsoft.com/office/drawing/2014/main" id="{3582C458-6775-C287-9BD6-45E599DDEB68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file.py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73" name="任意多边形: 形状 72">
                  <a:extLst>
                    <a:ext uri="{FF2B5EF4-FFF2-40B4-BE49-F238E27FC236}">
                      <a16:creationId xmlns:a16="http://schemas.microsoft.com/office/drawing/2014/main" id="{FD702CE6-0E03-D285-E1CD-EDD3B0D79C3E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73B9F71-0FD9-D65B-CAFA-C953CBC5917A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1AC55696-CA46-AF9F-D9CD-21F9AF101600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A1F6D536-2BC7-3E90-EC8D-C88052A76E05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F612BD1A-123D-97A2-195C-37009C515607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3C937017-90FE-E3EE-4D9E-62CF1A650008}"/>
              </a:ext>
            </a:extLst>
          </p:cNvPr>
          <p:cNvGrpSpPr/>
          <p:nvPr/>
        </p:nvGrpSpPr>
        <p:grpSpPr>
          <a:xfrm>
            <a:off x="7483204" y="3650793"/>
            <a:ext cx="1313161" cy="1516736"/>
            <a:chOff x="1469859" y="770995"/>
            <a:chExt cx="1621446" cy="1872814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76ADC631-1FE9-1FAF-5ECA-84AA06D1F840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280124E6-BADA-4E78-7407-837869C5DC69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81" name="任意多边形: 形状 80">
                  <a:extLst>
                    <a:ext uri="{FF2B5EF4-FFF2-40B4-BE49-F238E27FC236}">
                      <a16:creationId xmlns:a16="http://schemas.microsoft.com/office/drawing/2014/main" id="{8ED7A2E0-38C8-63E1-9B21-A2633D7063AC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format.py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82" name="任意多边形: 形状 81">
                  <a:extLst>
                    <a:ext uri="{FF2B5EF4-FFF2-40B4-BE49-F238E27FC236}">
                      <a16:creationId xmlns:a16="http://schemas.microsoft.com/office/drawing/2014/main" id="{2CF67DDA-0E5D-959A-5AA2-9B936BFD030B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BB254562-63C9-9576-2EC0-E1193508CAC2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8C2A3921-0EF8-0506-81F5-9C1E88CA9103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0C3BDDE9-1113-9D11-BC33-FF9F2B80072A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496A8524-472B-9ADF-D27E-4673612351AB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9972410-5BC3-33BA-FC2D-C04E134AF651}"/>
              </a:ext>
            </a:extLst>
          </p:cNvPr>
          <p:cNvGrpSpPr/>
          <p:nvPr/>
        </p:nvGrpSpPr>
        <p:grpSpPr>
          <a:xfrm>
            <a:off x="6061604" y="3651431"/>
            <a:ext cx="1313161" cy="1516736"/>
            <a:chOff x="1469859" y="770995"/>
            <a:chExt cx="1621446" cy="1872814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3B1FC199-0BF3-C652-0BF7-099F6574B108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854D4A1D-0E7C-6B58-8D26-0EC56DEA9A0E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90" name="任意多边形: 形状 89">
                  <a:extLst>
                    <a:ext uri="{FF2B5EF4-FFF2-40B4-BE49-F238E27FC236}">
                      <a16:creationId xmlns:a16="http://schemas.microsoft.com/office/drawing/2014/main" id="{1E57728D-F29E-973F-FDC3-81D842F47761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token.py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91" name="任意多边形: 形状 90">
                  <a:extLst>
                    <a:ext uri="{FF2B5EF4-FFF2-40B4-BE49-F238E27FC236}">
                      <a16:creationId xmlns:a16="http://schemas.microsoft.com/office/drawing/2014/main" id="{4F91753D-72C5-32D7-B4F7-96A2582F8514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0D015D1C-7C41-9976-A2CA-883BD744326C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D8DDD8AB-D929-25DA-525A-EDD8188453C8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94D00526-2024-33E7-21DF-4CA0EAF774CF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B4117764-5627-FBA6-8A7E-5E0BBB7DE77A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725F201B-107B-8165-86DF-1CBD3D1BE77A}"/>
              </a:ext>
            </a:extLst>
          </p:cNvPr>
          <p:cNvGrpSpPr/>
          <p:nvPr/>
        </p:nvGrpSpPr>
        <p:grpSpPr>
          <a:xfrm>
            <a:off x="4617359" y="3654201"/>
            <a:ext cx="1313161" cy="1516736"/>
            <a:chOff x="1469859" y="770995"/>
            <a:chExt cx="1621446" cy="1872814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6897B187-1C02-D805-58EC-59E49E9D44C9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97" name="组合 96">
                <a:extLst>
                  <a:ext uri="{FF2B5EF4-FFF2-40B4-BE49-F238E27FC236}">
                    <a16:creationId xmlns:a16="http://schemas.microsoft.com/office/drawing/2014/main" id="{9AA32B4E-4E18-9B50-3E64-15D63455EE2E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99" name="任意多边形: 形状 98">
                  <a:extLst>
                    <a:ext uri="{FF2B5EF4-FFF2-40B4-BE49-F238E27FC236}">
                      <a16:creationId xmlns:a16="http://schemas.microsoft.com/office/drawing/2014/main" id="{3C2A3BFE-DA46-855B-0CAF-2BE107EF4E0E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log.py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00" name="任意多边形: 形状 99">
                  <a:extLst>
                    <a:ext uri="{FF2B5EF4-FFF2-40B4-BE49-F238E27FC236}">
                      <a16:creationId xmlns:a16="http://schemas.microsoft.com/office/drawing/2014/main" id="{E196ECD1-8477-3DC9-B07B-2B3169FE7DD9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9DD9A1A4-42A6-A549-C027-C4134003D7FD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BEDBB98E-88AA-3ABF-C0E9-B35CB9850EC2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28DA1E38-CFD6-0300-04A1-D284E899DAEE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97C1D024-91A5-8916-F0E7-CBBBB3303227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0A377DDD-FEB3-CBAB-91D8-AF833FA47938}"/>
              </a:ext>
            </a:extLst>
          </p:cNvPr>
          <p:cNvGrpSpPr/>
          <p:nvPr/>
        </p:nvGrpSpPr>
        <p:grpSpPr>
          <a:xfrm>
            <a:off x="5543245" y="1292996"/>
            <a:ext cx="1313161" cy="1516736"/>
            <a:chOff x="1469859" y="770995"/>
            <a:chExt cx="1621446" cy="1872814"/>
          </a:xfrm>
        </p:grpSpPr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C4B68C34-B064-CC5F-9B14-7EDCC94E6040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69330A1D-D2F8-FEA0-A9FB-E4F4B1852E4E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108" name="任意多边形: 形状 107">
                  <a:extLst>
                    <a:ext uri="{FF2B5EF4-FFF2-40B4-BE49-F238E27FC236}">
                      <a16:creationId xmlns:a16="http://schemas.microsoft.com/office/drawing/2014/main" id="{F89DD292-90E4-13F7-31B6-5DE288282045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web_service.py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09" name="任意多边形: 形状 108">
                  <a:extLst>
                    <a:ext uri="{FF2B5EF4-FFF2-40B4-BE49-F238E27FC236}">
                      <a16:creationId xmlns:a16="http://schemas.microsoft.com/office/drawing/2014/main" id="{E27B3F50-6FDC-742E-4D81-03A08ACCBC8F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80E8293B-A7B8-0131-34BB-19AB7B2F850B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500" cy="578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5CBAFB6C-F4FA-B437-3334-85D2BE680F77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1CE424A9-68D7-4B17-F2EF-8649EA282DC1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8A5BE28B-E81F-D216-3DA5-A248EFB41F57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B082FAF-E055-63B2-82EE-51E398F82461}"/>
              </a:ext>
            </a:extLst>
          </p:cNvPr>
          <p:cNvSpPr txBox="1"/>
          <p:nvPr/>
        </p:nvSpPr>
        <p:spPr>
          <a:xfrm>
            <a:off x="4948730" y="5898600"/>
            <a:ext cx="2377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Python</a:t>
            </a:r>
            <a:r>
              <a:rPr lang="zh-CN" altLang="en-US" sz="24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软件包</a:t>
            </a:r>
          </a:p>
        </p:txBody>
      </p:sp>
    </p:spTree>
    <p:extLst>
      <p:ext uri="{BB962C8B-B14F-4D97-AF65-F5344CB8AC3E}">
        <p14:creationId xmlns:p14="http://schemas.microsoft.com/office/powerpoint/2010/main" val="2768325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9D2A-76EC-C8CD-3623-0037AD83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AE5DA3-7CF6-A5D6-AB27-6ACEE70374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导入模块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自定义模块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软件包（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package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）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0D09F4-F8D6-B7B7-7864-4B711DFC2D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模块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AE2E51-CC50-D603-8E7E-B80F510A0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49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6888-4040-C475-A433-363F19C8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4125E7-CAF7-0370-4DFF-846D63934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426750" cy="101145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包：本质就是一个文件夹，该文件夹中可以包含若干</a:t>
            </a:r>
            <a:r>
              <a:rPr lang="en-US" altLang="zh-CN"/>
              <a:t>python</a:t>
            </a:r>
            <a:r>
              <a:rPr lang="zh-CN" altLang="en-US"/>
              <a:t>模块（</a:t>
            </a:r>
            <a:r>
              <a:rPr lang="en-US" altLang="zh-CN"/>
              <a:t>.py</a:t>
            </a:r>
            <a:r>
              <a:rPr lang="zh-CN" altLang="en-US"/>
              <a:t>文件），文件夹下还包含了一个</a:t>
            </a:r>
            <a:r>
              <a:rPr lang="en-US" altLang="zh-CN">
                <a:solidFill>
                  <a:srgbClr val="C00000"/>
                </a:solidFill>
              </a:rPr>
              <a:t>__init__.py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作用：模块文件较多时，用来管理多个模块。（包的本质也是一个模块）</a:t>
            </a:r>
            <a:endParaRPr lang="en-US" altLang="zh-CN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65C0B5E-3243-B977-7017-53DA7C51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包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BA9FB4F-AC6F-C061-6777-475E35E5A86C}"/>
              </a:ext>
            </a:extLst>
          </p:cNvPr>
          <p:cNvSpPr/>
          <p:nvPr/>
        </p:nvSpPr>
        <p:spPr>
          <a:xfrm>
            <a:off x="2000840" y="2996026"/>
            <a:ext cx="6590007" cy="2184253"/>
          </a:xfrm>
          <a:prstGeom prst="roundRect">
            <a:avLst>
              <a:gd name="adj" fmla="val 4275"/>
            </a:avLst>
          </a:prstGeom>
          <a:solidFill>
            <a:srgbClr val="A7E8FF">
              <a:alpha val="20000"/>
            </a:srgb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endParaRPr lang="en-US" altLang="zh-CN" sz="1200"/>
          </a:p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utils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85FE9E-02B9-0CE7-991A-F5EB2CD1594F}"/>
              </a:ext>
            </a:extLst>
          </p:cNvPr>
          <p:cNvGrpSpPr/>
          <p:nvPr/>
        </p:nvGrpSpPr>
        <p:grpSpPr>
          <a:xfrm>
            <a:off x="3788184" y="3224962"/>
            <a:ext cx="1313161" cy="1516736"/>
            <a:chOff x="1469859" y="770995"/>
            <a:chExt cx="1621446" cy="187281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A9A6A62-3990-07A4-E048-A14AA6189A87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928EC837-53A7-2233-EA44-95865C86DA43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4FE0184B-0112-9AE8-FC6A-6B8914602AB3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my_var.py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C7A21575-65F7-20C1-8AEF-F25C9DE8311A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0FFD264-5DBC-F270-C72F-E64EFC5ED8E9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D23E6D3E-A50C-B0BE-B2B3-C17C94DBFE15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9E74CAD-F0C3-DF89-E899-8937C3C6C094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E30D9DC-61D2-C97F-4E25-2B4550B8C0A0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1F40370-3597-44C6-B8D3-5DAFA3992CFE}"/>
              </a:ext>
            </a:extLst>
          </p:cNvPr>
          <p:cNvGrpSpPr/>
          <p:nvPr/>
        </p:nvGrpSpPr>
        <p:grpSpPr>
          <a:xfrm>
            <a:off x="5408989" y="3238922"/>
            <a:ext cx="1313161" cy="1516736"/>
            <a:chOff x="1469859" y="770995"/>
            <a:chExt cx="1621446" cy="1872814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80636BC-2722-110D-6EA7-933071A48426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A7A9DE12-BC89-C4E8-41C9-29F14D346FD1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D2494B2E-E6BA-B817-ACEE-8195383CD680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my_config.py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611E4EE8-2EE2-2D90-822A-3BBE178E011D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56457B4-6175-4606-8B40-4F51E731AD8B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8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10DC6D9-7661-FC83-5B12-D686C2FB26F6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78FFBEA4-50BA-6A9C-9D53-A390FEBD41DB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E67FDDE9-2778-AA60-8E07-B64B629ABADB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0FA4391-7F58-B185-F78C-A808E06013C9}"/>
              </a:ext>
            </a:extLst>
          </p:cNvPr>
          <p:cNvGrpSpPr/>
          <p:nvPr/>
        </p:nvGrpSpPr>
        <p:grpSpPr>
          <a:xfrm>
            <a:off x="2167379" y="3224962"/>
            <a:ext cx="1313161" cy="1516736"/>
            <a:chOff x="1469859" y="770995"/>
            <a:chExt cx="1621446" cy="187281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F60CDC8F-37F7-17FE-B412-132FCFA33C25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599A2A59-FA2B-3F19-24EB-72469C46F1DE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9BAF4935-59D0-83E4-B279-A3BEB95573D3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1400"/>
                </a:p>
                <a:p>
                  <a:pPr algn="ctr"/>
                  <a:endParaRPr lang="en-US" altLang="zh-CN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>
                          <a:lumMod val="50000"/>
                        </a:schemeClr>
                      </a:solidFill>
                    </a:rPr>
                    <a:t>my_fun.py</a:t>
                  </a:r>
                  <a:endParaRPr lang="zh-CN" altLang="en-US" sz="9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6DEBB36E-27D8-755A-80E1-532255D4A10C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400"/>
                </a:p>
              </p:txBody>
            </p:sp>
          </p:grp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489B10B-DC8C-1C3C-4E9A-2BDAA98739CE}"/>
                  </a:ext>
                </a:extLst>
              </p:cNvPr>
              <p:cNvSpPr txBox="1"/>
              <p:nvPr/>
            </p:nvSpPr>
            <p:spPr>
              <a:xfrm>
                <a:off x="4532118" y="3486871"/>
                <a:ext cx="2463500" cy="578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10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6391F77E-A9ED-427F-A487-AAA3FB2E4BA1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4FD83925-00A0-E7A2-C91B-6C7D07BD03FD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740293E0-493E-4A02-C6B4-ECE8992AB589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6B7A5267-74D9-964D-80A6-B592575E9225}"/>
              </a:ext>
            </a:extLst>
          </p:cNvPr>
          <p:cNvGrpSpPr/>
          <p:nvPr/>
        </p:nvGrpSpPr>
        <p:grpSpPr>
          <a:xfrm>
            <a:off x="7073616" y="3252882"/>
            <a:ext cx="1313161" cy="1516736"/>
            <a:chOff x="6116021" y="3056951"/>
            <a:chExt cx="1313161" cy="1516736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4FB3AA0-0F4F-1142-9E36-3EA73D6438AC}"/>
                </a:ext>
              </a:extLst>
            </p:cNvPr>
            <p:cNvGrpSpPr/>
            <p:nvPr/>
          </p:nvGrpSpPr>
          <p:grpSpPr>
            <a:xfrm>
              <a:off x="6116021" y="3056951"/>
              <a:ext cx="1313161" cy="1516736"/>
              <a:chOff x="1469859" y="770995"/>
              <a:chExt cx="1621446" cy="1872814"/>
            </a:xfrm>
          </p:grpSpPr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8C8D7566-56AA-891D-6FAA-C0762F924E0F}"/>
                  </a:ext>
                </a:extLst>
              </p:cNvPr>
              <p:cNvGrpSpPr/>
              <p:nvPr/>
            </p:nvGrpSpPr>
            <p:grpSpPr>
              <a:xfrm>
                <a:off x="1469859" y="770995"/>
                <a:ext cx="1621446" cy="1872814"/>
                <a:chOff x="4313331" y="3230219"/>
                <a:chExt cx="2967241" cy="3442047"/>
              </a:xfrm>
            </p:grpSpPr>
            <p:grpSp>
              <p:nvGrpSpPr>
                <p:cNvPr id="37" name="组合 36">
                  <a:extLst>
                    <a:ext uri="{FF2B5EF4-FFF2-40B4-BE49-F238E27FC236}">
                      <a16:creationId xmlns:a16="http://schemas.microsoft.com/office/drawing/2014/main" id="{537E1C70-E505-C850-F7D0-B9D328C23179}"/>
                    </a:ext>
                  </a:extLst>
                </p:cNvPr>
                <p:cNvGrpSpPr/>
                <p:nvPr/>
              </p:nvGrpSpPr>
              <p:grpSpPr>
                <a:xfrm>
                  <a:off x="4313331" y="3230219"/>
                  <a:ext cx="2967241" cy="3442047"/>
                  <a:chOff x="2883349" y="3111062"/>
                  <a:chExt cx="3280482" cy="3622047"/>
                </a:xfrm>
              </p:grpSpPr>
              <p:sp>
                <p:nvSpPr>
                  <p:cNvPr id="39" name="任意多边形: 形状 38">
                    <a:extLst>
                      <a:ext uri="{FF2B5EF4-FFF2-40B4-BE49-F238E27FC236}">
                        <a16:creationId xmlns:a16="http://schemas.microsoft.com/office/drawing/2014/main" id="{02248FDA-1908-C12B-E67C-0C74E3A64DC0}"/>
                      </a:ext>
                    </a:extLst>
                  </p:cNvPr>
                  <p:cNvSpPr/>
                  <p:nvPr/>
                </p:nvSpPr>
                <p:spPr>
                  <a:xfrm>
                    <a:off x="2883349" y="3111062"/>
                    <a:ext cx="3280482" cy="3622047"/>
                  </a:xfrm>
                  <a:custGeom>
                    <a:avLst/>
                    <a:gdLst>
                      <a:gd name="connsiteX0" fmla="*/ 0 w 3069020"/>
                      <a:gd name="connsiteY0" fmla="*/ 0 h 3510455"/>
                      <a:gd name="connsiteX1" fmla="*/ 2286511 w 3069020"/>
                      <a:gd name="connsiteY1" fmla="*/ 0 h 3510455"/>
                      <a:gd name="connsiteX2" fmla="*/ 2315877 w 3069020"/>
                      <a:gd name="connsiteY2" fmla="*/ 15324 h 3510455"/>
                      <a:gd name="connsiteX3" fmla="*/ 3069020 w 3069020"/>
                      <a:gd name="connsiteY3" fmla="*/ 731145 h 3510455"/>
                      <a:gd name="connsiteX4" fmla="*/ 3069020 w 3069020"/>
                      <a:gd name="connsiteY4" fmla="*/ 3510455 h 3510455"/>
                      <a:gd name="connsiteX5" fmla="*/ 0 w 3069020"/>
                      <a:gd name="connsiteY5" fmla="*/ 3510455 h 3510455"/>
                      <a:gd name="connsiteX0" fmla="*/ 0 w 3069020"/>
                      <a:gd name="connsiteY0" fmla="*/ 0 h 3510455"/>
                      <a:gd name="connsiteX1" fmla="*/ 2286511 w 3069020"/>
                      <a:gd name="connsiteY1" fmla="*/ 0 h 3510455"/>
                      <a:gd name="connsiteX2" fmla="*/ 2315877 w 3069020"/>
                      <a:gd name="connsiteY2" fmla="*/ 15324 h 3510455"/>
                      <a:gd name="connsiteX3" fmla="*/ 3069020 w 3069020"/>
                      <a:gd name="connsiteY3" fmla="*/ 731145 h 3510455"/>
                      <a:gd name="connsiteX4" fmla="*/ 3069020 w 3069020"/>
                      <a:gd name="connsiteY4" fmla="*/ 3510455 h 3510455"/>
                      <a:gd name="connsiteX5" fmla="*/ 0 w 3069020"/>
                      <a:gd name="connsiteY5" fmla="*/ 3510455 h 3510455"/>
                      <a:gd name="connsiteX6" fmla="*/ 0 w 3069020"/>
                      <a:gd name="connsiteY6" fmla="*/ 0 h 3510455"/>
                      <a:gd name="connsiteX0" fmla="*/ 25708 w 3094728"/>
                      <a:gd name="connsiteY0" fmla="*/ 0 h 3510455"/>
                      <a:gd name="connsiteX1" fmla="*/ 2312219 w 3094728"/>
                      <a:gd name="connsiteY1" fmla="*/ 0 h 3510455"/>
                      <a:gd name="connsiteX2" fmla="*/ 2341585 w 3094728"/>
                      <a:gd name="connsiteY2" fmla="*/ 15324 h 3510455"/>
                      <a:gd name="connsiteX3" fmla="*/ 3094728 w 3094728"/>
                      <a:gd name="connsiteY3" fmla="*/ 731145 h 3510455"/>
                      <a:gd name="connsiteX4" fmla="*/ 3094728 w 3094728"/>
                      <a:gd name="connsiteY4" fmla="*/ 3510455 h 3510455"/>
                      <a:gd name="connsiteX5" fmla="*/ 25708 w 3094728"/>
                      <a:gd name="connsiteY5" fmla="*/ 3510455 h 3510455"/>
                      <a:gd name="connsiteX6" fmla="*/ 25708 w 3094728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105173" h="3510455">
                        <a:moveTo>
                          <a:pt x="36153" y="0"/>
                        </a:moveTo>
                        <a:cubicBezTo>
                          <a:pt x="904373" y="50847"/>
                          <a:pt x="1560494" y="0"/>
                          <a:pt x="2322664" y="0"/>
                        </a:cubicBezTo>
                        <a:lnTo>
                          <a:pt x="2352030" y="15324"/>
                        </a:lnTo>
                        <a:lnTo>
                          <a:pt x="3105173" y="731145"/>
                        </a:lnTo>
                        <a:cubicBezTo>
                          <a:pt x="3105173" y="1657582"/>
                          <a:pt x="3018404" y="2541645"/>
                          <a:pt x="3105173" y="3510455"/>
                        </a:cubicBezTo>
                        <a:cubicBezTo>
                          <a:pt x="2053244" y="3459608"/>
                          <a:pt x="1117006" y="3459608"/>
                          <a:pt x="7230" y="3510455"/>
                        </a:cubicBezTo>
                        <a:cubicBezTo>
                          <a:pt x="7230" y="2340303"/>
                          <a:pt x="-21693" y="1170152"/>
                          <a:pt x="36153" y="0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altLang="zh-CN" sz="1400"/>
                  </a:p>
                  <a:p>
                    <a:pPr algn="ctr"/>
                    <a:endParaRPr lang="en-US" altLang="zh-CN" sz="1400"/>
                  </a:p>
                  <a:p>
                    <a:pPr algn="ctr"/>
                    <a:endParaRPr lang="en-US" altLang="zh-CN" sz="1400"/>
                  </a:p>
                  <a:p>
                    <a:pPr algn="ctr"/>
                    <a:endParaRPr lang="en-US" altLang="zh-CN" sz="1400"/>
                  </a:p>
                  <a:p>
                    <a:pPr algn="ctr"/>
                    <a:endParaRPr lang="en-US" altLang="zh-CN" sz="1400"/>
                  </a:p>
                  <a:p>
                    <a:pPr algn="ctr"/>
                    <a:endParaRPr lang="en-US" altLang="zh-CN" sz="90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  <a:p>
                    <a:pPr algn="ctr"/>
                    <a:r>
                      <a:rPr lang="en-US" altLang="zh-CN" sz="900">
                        <a:solidFill>
                          <a:schemeClr val="tx1">
                            <a:lumMod val="50000"/>
                          </a:schemeClr>
                        </a:solidFill>
                      </a:rPr>
                      <a:t>__init__.py</a:t>
                    </a:r>
                    <a:endParaRPr lang="zh-CN" altLang="en-US" sz="90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40" name="任意多边形: 形状 39">
                    <a:extLst>
                      <a:ext uri="{FF2B5EF4-FFF2-40B4-BE49-F238E27FC236}">
                        <a16:creationId xmlns:a16="http://schemas.microsoft.com/office/drawing/2014/main" id="{5D06FF51-61F4-CB3E-0B0A-BDFBCCAFA010}"/>
                      </a:ext>
                    </a:extLst>
                  </p:cNvPr>
                  <p:cNvSpPr/>
                  <p:nvPr/>
                </p:nvSpPr>
                <p:spPr>
                  <a:xfrm rot="13408035">
                    <a:off x="5027214" y="3419467"/>
                    <a:ext cx="1062195" cy="541091"/>
                  </a:xfrm>
                  <a:custGeom>
                    <a:avLst/>
                    <a:gdLst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62195" h="541091">
                        <a:moveTo>
                          <a:pt x="1062195" y="534418"/>
                        </a:moveTo>
                        <a:lnTo>
                          <a:pt x="1030365" y="541091"/>
                        </a:lnTo>
                        <a:lnTo>
                          <a:pt x="0" y="541091"/>
                        </a:lnTo>
                        <a:cubicBezTo>
                          <a:pt x="178131" y="360727"/>
                          <a:pt x="136110" y="357977"/>
                          <a:pt x="534393" y="0"/>
                        </a:cubicBezTo>
                        <a:cubicBezTo>
                          <a:pt x="896687" y="407497"/>
                          <a:pt x="902466" y="354898"/>
                          <a:pt x="1062195" y="534418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noFill/>
                  </a:ln>
                  <a:effectLst>
                    <a:outerShdw blurRad="38100" dist="25400" dir="72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 sz="1400"/>
                  </a:p>
                </p:txBody>
              </p:sp>
            </p:grpSp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CFAE2FF3-6649-D327-A586-6FB0381A242C}"/>
                    </a:ext>
                  </a:extLst>
                </p:cNvPr>
                <p:cNvSpPr txBox="1"/>
                <p:nvPr/>
              </p:nvSpPr>
              <p:spPr>
                <a:xfrm>
                  <a:off x="4532118" y="3486872"/>
                  <a:ext cx="2463500" cy="6897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  <a:buNone/>
                  </a:pPr>
                  <a:endParaRPr lang="en-US" altLang="zh-CN" sz="1000">
                    <a:solidFill>
                      <a:srgbClr val="080808"/>
                    </a:solidFill>
                    <a:effectLst/>
                    <a:latin typeface="Fira Code" panose="020B0809050000020004" pitchFamily="49" charset="0"/>
                  </a:endParaRPr>
                </a:p>
              </p:txBody>
            </p:sp>
          </p:grpSp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12F56BB2-FB36-3731-FBA6-0CD0D90CC76A}"/>
                  </a:ext>
                </a:extLst>
              </p:cNvPr>
              <p:cNvSpPr/>
              <p:nvPr/>
            </p:nvSpPr>
            <p:spPr>
              <a:xfrm>
                <a:off x="1879023" y="1299537"/>
                <a:ext cx="734553" cy="270755"/>
              </a:xfrm>
              <a:prstGeom prst="roundRect">
                <a:avLst>
                  <a:gd name="adj" fmla="val 18622"/>
                </a:avLst>
              </a:prstGeom>
              <a:solidFill>
                <a:srgbClr val="E8E8E8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>
                    <a:solidFill>
                      <a:schemeClr val="tx1">
                        <a:lumMod val="50000"/>
                      </a:schemeClr>
                    </a:solidFill>
                  </a:rPr>
                  <a:t>配置</a:t>
                </a:r>
                <a:r>
                  <a:rPr lang="en-US" altLang="zh-CN" sz="800">
                    <a:solidFill>
                      <a:schemeClr val="tx1">
                        <a:lumMod val="50000"/>
                      </a:schemeClr>
                    </a:solidFill>
                  </a:rPr>
                  <a:t>1</a:t>
                </a:r>
                <a:endParaRPr lang="zh-CN" altLang="en-US" sz="80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89A11CC2-885E-B3C6-39BB-8DBF98893D01}"/>
                </a:ext>
              </a:extLst>
            </p:cNvPr>
            <p:cNvSpPr/>
            <p:nvPr/>
          </p:nvSpPr>
          <p:spPr>
            <a:xfrm>
              <a:off x="6447390" y="3831499"/>
              <a:ext cx="594893" cy="219276"/>
            </a:xfrm>
            <a:prstGeom prst="roundRect">
              <a:avLst>
                <a:gd name="adj" fmla="val 18622"/>
              </a:avLst>
            </a:prstGeom>
            <a:solidFill>
              <a:srgbClr val="E8E8E8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>
                  <a:solidFill>
                    <a:schemeClr val="tx1">
                      <a:lumMod val="50000"/>
                    </a:schemeClr>
                  </a:solidFill>
                </a:rPr>
                <a:t>配置</a:t>
              </a:r>
              <a:r>
                <a:rPr lang="en-US" altLang="zh-CN" sz="8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8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08701F0-39F6-682B-AEDA-85B91D6CF2F7}"/>
              </a:ext>
            </a:extLst>
          </p:cNvPr>
          <p:cNvCxnSpPr/>
          <p:nvPr/>
        </p:nvCxnSpPr>
        <p:spPr>
          <a:xfrm>
            <a:off x="8260670" y="4104158"/>
            <a:ext cx="1115243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F249CD28-4DAF-4C4A-FCEF-167C4A0A6403}"/>
              </a:ext>
            </a:extLst>
          </p:cNvPr>
          <p:cNvSpPr txBox="1"/>
          <p:nvPr/>
        </p:nvSpPr>
        <p:spPr>
          <a:xfrm>
            <a:off x="9406330" y="3965145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荆南波波黑" panose="02000800000000000000" pitchFamily="2" charset="-122"/>
                <a:ea typeface="荆南波波黑" panose="02000800000000000000" pitchFamily="2" charset="-122"/>
              </a:rPr>
              <a:t>描述当前包的信息的</a:t>
            </a:r>
          </a:p>
        </p:txBody>
      </p:sp>
    </p:spTree>
    <p:extLst>
      <p:ext uri="{BB962C8B-B14F-4D97-AF65-F5344CB8AC3E}">
        <p14:creationId xmlns:p14="http://schemas.microsoft.com/office/powerpoint/2010/main" val="159219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20000" decel="8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8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9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accel="20000" decel="8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16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17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8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accel="20000" decel="8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24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25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26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accel="20000" decel="8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1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32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33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34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accel="20000" decel="8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58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by x="100000" y="100000"/>
                                      <p:from x="0" y="0"/>
                                      <p:to x="110000" y="110000"/>
                                    </p:animScale>
                                    <p:animScale>
                                      <p:cBhvr>
                                        <p:cTn id="40" dur="197" accel="50000" fill="hold">
                                          <p:stCondLst>
                                            <p:cond delay="15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95000" y="95000"/>
                                    </p:animScale>
                                    <p:animScale>
                                      <p:cBhvr>
                                        <p:cTn id="41" dur="395" decel="100000" fill="hold">
                                          <p:stCondLst>
                                            <p:cond delay="35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by x="100000" y="100000"/>
                                      <p:from x="95000" y="95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42" dur="79" decel="10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911A-0111-0E77-96C1-5C58C6A3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36A5FF1-C856-1E23-22C1-B139FD067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包的导入方式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FAA1EE8-1EB8-2436-16D3-3B42F07D9F1B}"/>
              </a:ext>
            </a:extLst>
          </p:cNvPr>
          <p:cNvSpPr/>
          <p:nvPr/>
        </p:nvSpPr>
        <p:spPr>
          <a:xfrm>
            <a:off x="2776343" y="956242"/>
            <a:ext cx="5702112" cy="1820512"/>
          </a:xfrm>
          <a:prstGeom prst="roundRect">
            <a:avLst>
              <a:gd name="adj" fmla="val 4275"/>
            </a:avLst>
          </a:prstGeom>
          <a:solidFill>
            <a:srgbClr val="A7E8FF">
              <a:alpha val="20000"/>
            </a:srgb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100"/>
          </a:p>
          <a:p>
            <a:pPr algn="ctr"/>
            <a:endParaRPr lang="en-US" altLang="zh-CN" sz="1100"/>
          </a:p>
          <a:p>
            <a:pPr algn="ctr"/>
            <a:endParaRPr lang="en-US" altLang="zh-CN" sz="1100"/>
          </a:p>
          <a:p>
            <a:pPr algn="ctr"/>
            <a:endParaRPr lang="en-US" altLang="zh-CN" sz="1100"/>
          </a:p>
          <a:p>
            <a:pPr algn="ctr"/>
            <a:endParaRPr lang="en-US" altLang="zh-CN" sz="1100"/>
          </a:p>
          <a:p>
            <a:pPr algn="ctr"/>
            <a:endParaRPr lang="en-US" altLang="zh-CN" sz="1100"/>
          </a:p>
          <a:p>
            <a:pPr algn="ctr"/>
            <a:endParaRPr lang="en-US" altLang="zh-CN" sz="1100"/>
          </a:p>
          <a:p>
            <a:pPr algn="ctr"/>
            <a:endParaRPr lang="en-US" altLang="zh-CN" sz="1100"/>
          </a:p>
          <a:p>
            <a:pPr algn="ctr"/>
            <a:endParaRPr lang="en-US" altLang="zh-CN" sz="1100"/>
          </a:p>
          <a:p>
            <a:pPr algn="ctr"/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utils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87D1221-1851-0DE0-C89D-1AAD5F8A5139}"/>
              </a:ext>
            </a:extLst>
          </p:cNvPr>
          <p:cNvGrpSpPr/>
          <p:nvPr/>
        </p:nvGrpSpPr>
        <p:grpSpPr>
          <a:xfrm>
            <a:off x="4365838" y="1145882"/>
            <a:ext cx="1136234" cy="1312381"/>
            <a:chOff x="1469859" y="770995"/>
            <a:chExt cx="1621446" cy="187281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6F1D823-728A-AFC3-9C72-CA23A3B9ADFF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4952CC48-E75B-35AE-98E2-B277FAA163C5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ED681D4D-28F6-41DC-CB78-82E28DFDB5E5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8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800">
                      <a:solidFill>
                        <a:schemeClr val="tx1">
                          <a:lumMod val="50000"/>
                        </a:schemeClr>
                      </a:solidFill>
                    </a:rPr>
                    <a:t>my_var.py</a:t>
                  </a:r>
                  <a:endParaRPr lang="zh-CN" altLang="en-US" sz="8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3" name="任意多边形: 形状 12">
                  <a:extLst>
                    <a:ext uri="{FF2B5EF4-FFF2-40B4-BE49-F238E27FC236}">
                      <a16:creationId xmlns:a16="http://schemas.microsoft.com/office/drawing/2014/main" id="{37B17E4D-5A7B-10CC-396C-574C87A4D4AC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200"/>
                </a:p>
              </p:txBody>
            </p:sp>
          </p:grp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807EC2B-E486-E205-C8AF-EC57B7073E82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41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DDF8D38-6BBF-0E03-143A-D05EE93309A0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73CDD41-75F8-F5EA-1444-C5A97AFCFAF0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86A8DE7-CE31-B22A-9C38-8D68C7741A8D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405C60C-7874-EB87-31DD-412680A910AA}"/>
              </a:ext>
            </a:extLst>
          </p:cNvPr>
          <p:cNvGrpSpPr/>
          <p:nvPr/>
        </p:nvGrpSpPr>
        <p:grpSpPr>
          <a:xfrm>
            <a:off x="5800301" y="1145882"/>
            <a:ext cx="1136234" cy="1312381"/>
            <a:chOff x="1469859" y="770995"/>
            <a:chExt cx="1621446" cy="1872814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C75646BE-BDA6-1F6A-AEBA-962ADDE5C719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204D2DFD-6630-84FD-05CA-5FF117E02733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21" name="任意多边形: 形状 20">
                  <a:extLst>
                    <a:ext uri="{FF2B5EF4-FFF2-40B4-BE49-F238E27FC236}">
                      <a16:creationId xmlns:a16="http://schemas.microsoft.com/office/drawing/2014/main" id="{06206E93-327B-2EEE-6CED-43ADFB2A1C3A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8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800">
                      <a:solidFill>
                        <a:schemeClr val="tx1">
                          <a:lumMod val="50000"/>
                        </a:schemeClr>
                      </a:solidFill>
                    </a:rPr>
                    <a:t>my_config.py</a:t>
                  </a:r>
                  <a:endParaRPr lang="zh-CN" altLang="en-US" sz="8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6A782B37-69DC-C237-1F37-AB38232C391F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200"/>
                </a:p>
              </p:txBody>
            </p:sp>
          </p:grp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3C2008E-1C26-7303-A494-3AF800E9CB56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41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6FAC0C4E-2787-3716-06D8-A1B233D913B5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B3C562C-A101-0AA3-3808-49BE57D0D36F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7836DD9-FE38-ABE6-76B1-281389367157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0F580FF-4510-E248-F728-9BB12BFB2AC4}"/>
              </a:ext>
            </a:extLst>
          </p:cNvPr>
          <p:cNvGrpSpPr/>
          <p:nvPr/>
        </p:nvGrpSpPr>
        <p:grpSpPr>
          <a:xfrm>
            <a:off x="2942882" y="1162029"/>
            <a:ext cx="1136234" cy="1312381"/>
            <a:chOff x="1469859" y="770995"/>
            <a:chExt cx="1621446" cy="187281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F691525-5918-F6AB-AD93-5F3D46EACA43}"/>
                </a:ext>
              </a:extLst>
            </p:cNvPr>
            <p:cNvGrpSpPr/>
            <p:nvPr/>
          </p:nvGrpSpPr>
          <p:grpSpPr>
            <a:xfrm>
              <a:off x="1469859" y="770995"/>
              <a:ext cx="1621446" cy="1872814"/>
              <a:chOff x="4313331" y="3230219"/>
              <a:chExt cx="2967241" cy="3442047"/>
            </a:xfrm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D9464EF6-81C8-0637-5B7B-08362D8231C0}"/>
                  </a:ext>
                </a:extLst>
              </p:cNvPr>
              <p:cNvGrpSpPr/>
              <p:nvPr/>
            </p:nvGrpSpPr>
            <p:grpSpPr>
              <a:xfrm>
                <a:off x="4313331" y="3230219"/>
                <a:ext cx="2967241" cy="3442047"/>
                <a:chOff x="2883349" y="3111062"/>
                <a:chExt cx="3280482" cy="3622047"/>
              </a:xfrm>
            </p:grpSpPr>
            <p:sp>
              <p:nvSpPr>
                <p:cNvPr id="30" name="任意多边形: 形状 29">
                  <a:extLst>
                    <a:ext uri="{FF2B5EF4-FFF2-40B4-BE49-F238E27FC236}">
                      <a16:creationId xmlns:a16="http://schemas.microsoft.com/office/drawing/2014/main" id="{91102F62-D43B-8F87-2091-A6EE2306D313}"/>
                    </a:ext>
                  </a:extLst>
                </p:cNvPr>
                <p:cNvSpPr/>
                <p:nvPr/>
              </p:nvSpPr>
              <p:spPr>
                <a:xfrm>
                  <a:off x="2883349" y="3111062"/>
                  <a:ext cx="3280482" cy="3622047"/>
                </a:xfrm>
                <a:custGeom>
                  <a:avLst/>
                  <a:gdLst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0" fmla="*/ 0 w 3069020"/>
                    <a:gd name="connsiteY0" fmla="*/ 0 h 3510455"/>
                    <a:gd name="connsiteX1" fmla="*/ 2286511 w 3069020"/>
                    <a:gd name="connsiteY1" fmla="*/ 0 h 3510455"/>
                    <a:gd name="connsiteX2" fmla="*/ 2315877 w 3069020"/>
                    <a:gd name="connsiteY2" fmla="*/ 15324 h 3510455"/>
                    <a:gd name="connsiteX3" fmla="*/ 3069020 w 3069020"/>
                    <a:gd name="connsiteY3" fmla="*/ 731145 h 3510455"/>
                    <a:gd name="connsiteX4" fmla="*/ 3069020 w 3069020"/>
                    <a:gd name="connsiteY4" fmla="*/ 3510455 h 3510455"/>
                    <a:gd name="connsiteX5" fmla="*/ 0 w 3069020"/>
                    <a:gd name="connsiteY5" fmla="*/ 3510455 h 3510455"/>
                    <a:gd name="connsiteX6" fmla="*/ 0 w 3069020"/>
                    <a:gd name="connsiteY6" fmla="*/ 0 h 3510455"/>
                    <a:gd name="connsiteX0" fmla="*/ 25708 w 3094728"/>
                    <a:gd name="connsiteY0" fmla="*/ 0 h 3510455"/>
                    <a:gd name="connsiteX1" fmla="*/ 2312219 w 3094728"/>
                    <a:gd name="connsiteY1" fmla="*/ 0 h 3510455"/>
                    <a:gd name="connsiteX2" fmla="*/ 2341585 w 3094728"/>
                    <a:gd name="connsiteY2" fmla="*/ 15324 h 3510455"/>
                    <a:gd name="connsiteX3" fmla="*/ 3094728 w 3094728"/>
                    <a:gd name="connsiteY3" fmla="*/ 731145 h 3510455"/>
                    <a:gd name="connsiteX4" fmla="*/ 3094728 w 3094728"/>
                    <a:gd name="connsiteY4" fmla="*/ 3510455 h 3510455"/>
                    <a:gd name="connsiteX5" fmla="*/ 25708 w 3094728"/>
                    <a:gd name="connsiteY5" fmla="*/ 3510455 h 3510455"/>
                    <a:gd name="connsiteX6" fmla="*/ 25708 w 3094728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  <a:gd name="connsiteX0" fmla="*/ 36153 w 3105173"/>
                    <a:gd name="connsiteY0" fmla="*/ 0 h 3510455"/>
                    <a:gd name="connsiteX1" fmla="*/ 2322664 w 3105173"/>
                    <a:gd name="connsiteY1" fmla="*/ 0 h 3510455"/>
                    <a:gd name="connsiteX2" fmla="*/ 2352030 w 3105173"/>
                    <a:gd name="connsiteY2" fmla="*/ 15324 h 3510455"/>
                    <a:gd name="connsiteX3" fmla="*/ 3105173 w 3105173"/>
                    <a:gd name="connsiteY3" fmla="*/ 731145 h 3510455"/>
                    <a:gd name="connsiteX4" fmla="*/ 3105173 w 3105173"/>
                    <a:gd name="connsiteY4" fmla="*/ 3510455 h 3510455"/>
                    <a:gd name="connsiteX5" fmla="*/ 7230 w 3105173"/>
                    <a:gd name="connsiteY5" fmla="*/ 3510455 h 3510455"/>
                    <a:gd name="connsiteX6" fmla="*/ 36153 w 3105173"/>
                    <a:gd name="connsiteY6" fmla="*/ 0 h 3510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05173" h="3510455">
                      <a:moveTo>
                        <a:pt x="36153" y="0"/>
                      </a:moveTo>
                      <a:cubicBezTo>
                        <a:pt x="904373" y="50847"/>
                        <a:pt x="1560494" y="0"/>
                        <a:pt x="2322664" y="0"/>
                      </a:cubicBezTo>
                      <a:lnTo>
                        <a:pt x="2352030" y="15324"/>
                      </a:lnTo>
                      <a:lnTo>
                        <a:pt x="3105173" y="731145"/>
                      </a:lnTo>
                      <a:cubicBezTo>
                        <a:pt x="3105173" y="1657582"/>
                        <a:pt x="3018404" y="2541645"/>
                        <a:pt x="3105173" y="3510455"/>
                      </a:cubicBezTo>
                      <a:cubicBezTo>
                        <a:pt x="2053244" y="3459608"/>
                        <a:pt x="1117006" y="3459608"/>
                        <a:pt x="7230" y="3510455"/>
                      </a:cubicBezTo>
                      <a:cubicBezTo>
                        <a:pt x="7230" y="2340303"/>
                        <a:pt x="-21693" y="1170152"/>
                        <a:pt x="36153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1200"/>
                </a:p>
                <a:p>
                  <a:pPr algn="ctr"/>
                  <a:endParaRPr lang="en-US" altLang="zh-CN" sz="800">
                    <a:solidFill>
                      <a:schemeClr val="tx1">
                        <a:lumMod val="50000"/>
                      </a:schemeClr>
                    </a:solidFill>
                  </a:endParaRPr>
                </a:p>
                <a:p>
                  <a:pPr algn="ctr"/>
                  <a:r>
                    <a:rPr lang="en-US" altLang="zh-CN" sz="800">
                      <a:solidFill>
                        <a:schemeClr val="tx1">
                          <a:lumMod val="50000"/>
                        </a:schemeClr>
                      </a:solidFill>
                    </a:rPr>
                    <a:t>my_fun.py</a:t>
                  </a:r>
                  <a:endParaRPr lang="zh-CN" altLang="en-US" sz="800">
                    <a:solidFill>
                      <a:schemeClr val="tx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1" name="任意多边形: 形状 30">
                  <a:extLst>
                    <a:ext uri="{FF2B5EF4-FFF2-40B4-BE49-F238E27FC236}">
                      <a16:creationId xmlns:a16="http://schemas.microsoft.com/office/drawing/2014/main" id="{C67177F0-FD04-8165-8CA8-8593A5F9B0BA}"/>
                    </a:ext>
                  </a:extLst>
                </p:cNvPr>
                <p:cNvSpPr/>
                <p:nvPr/>
              </p:nvSpPr>
              <p:spPr>
                <a:xfrm rot="13408035">
                  <a:off x="5027214" y="3419467"/>
                  <a:ext cx="1062195" cy="541091"/>
                </a:xfrm>
                <a:custGeom>
                  <a:avLst/>
                  <a:gdLst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  <a:gd name="connsiteX0" fmla="*/ 1062195 w 1062195"/>
                    <a:gd name="connsiteY0" fmla="*/ 534418 h 541091"/>
                    <a:gd name="connsiteX1" fmla="*/ 1030365 w 1062195"/>
                    <a:gd name="connsiteY1" fmla="*/ 541091 h 541091"/>
                    <a:gd name="connsiteX2" fmla="*/ 0 w 1062195"/>
                    <a:gd name="connsiteY2" fmla="*/ 541091 h 541091"/>
                    <a:gd name="connsiteX3" fmla="*/ 534393 w 1062195"/>
                    <a:gd name="connsiteY3" fmla="*/ 0 h 541091"/>
                    <a:gd name="connsiteX4" fmla="*/ 1062195 w 1062195"/>
                    <a:gd name="connsiteY4" fmla="*/ 534418 h 541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195" h="541091">
                      <a:moveTo>
                        <a:pt x="1062195" y="534418"/>
                      </a:moveTo>
                      <a:lnTo>
                        <a:pt x="1030365" y="541091"/>
                      </a:lnTo>
                      <a:lnTo>
                        <a:pt x="0" y="541091"/>
                      </a:lnTo>
                      <a:cubicBezTo>
                        <a:pt x="178131" y="360727"/>
                        <a:pt x="136110" y="357977"/>
                        <a:pt x="534393" y="0"/>
                      </a:cubicBezTo>
                      <a:cubicBezTo>
                        <a:pt x="896687" y="407497"/>
                        <a:pt x="902466" y="354898"/>
                        <a:pt x="1062195" y="534418"/>
                      </a:cubicBezTo>
                      <a:close/>
                    </a:path>
                  </a:pathLst>
                </a:custGeom>
                <a:gradFill>
                  <a:gsLst>
                    <a:gs pos="88000">
                      <a:srgbClr val="D1D1D1"/>
                    </a:gs>
                    <a:gs pos="48000">
                      <a:schemeClr val="bg1">
                        <a:lumMod val="65000"/>
                      </a:schemeClr>
                    </a:gs>
                    <a:gs pos="0">
                      <a:schemeClr val="bg1">
                        <a:lumMod val="50000"/>
                        <a:alpha val="84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blurRad="38100" dist="254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sz="1200"/>
                </a:p>
              </p:txBody>
            </p:sp>
          </p:grp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8965FB9-DEC8-68D0-AC08-2CF34F3DF17B}"/>
                  </a:ext>
                </a:extLst>
              </p:cNvPr>
              <p:cNvSpPr txBox="1"/>
              <p:nvPr/>
            </p:nvSpPr>
            <p:spPr>
              <a:xfrm>
                <a:off x="4532118" y="3486872"/>
                <a:ext cx="2463500" cy="641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endParaRPr lang="en-US" altLang="zh-CN" sz="900">
                  <a:solidFill>
                    <a:srgbClr val="080808"/>
                  </a:solidFill>
                  <a:effectLst/>
                  <a:latin typeface="Fira Code" panose="020B0809050000020004" pitchFamily="49" charset="0"/>
                </a:endParaRPr>
              </a:p>
            </p:txBody>
          </p:sp>
        </p:grp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4EF4D7F-B42B-58BD-E83E-C52A1DB0F69A}"/>
                </a:ext>
              </a:extLst>
            </p:cNvPr>
            <p:cNvSpPr/>
            <p:nvPr/>
          </p:nvSpPr>
          <p:spPr>
            <a:xfrm>
              <a:off x="1879025" y="1210739"/>
              <a:ext cx="734554" cy="270754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C9D5FD5-2CD6-DEC9-05FF-FCEBA63CEE33}"/>
                </a:ext>
              </a:extLst>
            </p:cNvPr>
            <p:cNvSpPr/>
            <p:nvPr/>
          </p:nvSpPr>
          <p:spPr>
            <a:xfrm>
              <a:off x="1879025" y="1926472"/>
              <a:ext cx="734554" cy="264898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D0B66058-F6E1-C33F-C8DB-2D7AAED099CE}"/>
                </a:ext>
              </a:extLst>
            </p:cNvPr>
            <p:cNvSpPr/>
            <p:nvPr/>
          </p:nvSpPr>
          <p:spPr>
            <a:xfrm>
              <a:off x="1879025" y="1568605"/>
              <a:ext cx="734554" cy="270755"/>
            </a:xfrm>
            <a:prstGeom prst="roundRect">
              <a:avLst>
                <a:gd name="adj" fmla="val 18622"/>
              </a:avLst>
            </a:prstGeom>
            <a:solidFill>
              <a:schemeClr val="bg1">
                <a:lumMod val="75000"/>
                <a:alpha val="2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功能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15B8E62-38C0-0DAE-EFE5-1029B94C4850}"/>
              </a:ext>
            </a:extLst>
          </p:cNvPr>
          <p:cNvGrpSpPr/>
          <p:nvPr/>
        </p:nvGrpSpPr>
        <p:grpSpPr>
          <a:xfrm>
            <a:off x="7223260" y="1157961"/>
            <a:ext cx="1136234" cy="1312381"/>
            <a:chOff x="6116021" y="3056951"/>
            <a:chExt cx="1313161" cy="151673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68A964C-A54C-64CC-7836-B594A5E4BE5F}"/>
                </a:ext>
              </a:extLst>
            </p:cNvPr>
            <p:cNvGrpSpPr/>
            <p:nvPr/>
          </p:nvGrpSpPr>
          <p:grpSpPr>
            <a:xfrm>
              <a:off x="6116021" y="3056951"/>
              <a:ext cx="1313161" cy="1516736"/>
              <a:chOff x="1469859" y="770995"/>
              <a:chExt cx="1621446" cy="1872814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26364EF6-FFEB-CE9A-F870-758A82B6A203}"/>
                  </a:ext>
                </a:extLst>
              </p:cNvPr>
              <p:cNvGrpSpPr/>
              <p:nvPr/>
            </p:nvGrpSpPr>
            <p:grpSpPr>
              <a:xfrm>
                <a:off x="1469859" y="770995"/>
                <a:ext cx="1621446" cy="1872814"/>
                <a:chOff x="4313331" y="3230219"/>
                <a:chExt cx="2967241" cy="3442047"/>
              </a:xfrm>
            </p:grpSpPr>
            <p:grpSp>
              <p:nvGrpSpPr>
                <p:cNvPr id="37" name="组合 36">
                  <a:extLst>
                    <a:ext uri="{FF2B5EF4-FFF2-40B4-BE49-F238E27FC236}">
                      <a16:creationId xmlns:a16="http://schemas.microsoft.com/office/drawing/2014/main" id="{CEB89D3D-E2A7-E52C-A69F-CF44B35229C1}"/>
                    </a:ext>
                  </a:extLst>
                </p:cNvPr>
                <p:cNvGrpSpPr/>
                <p:nvPr/>
              </p:nvGrpSpPr>
              <p:grpSpPr>
                <a:xfrm>
                  <a:off x="4313331" y="3230219"/>
                  <a:ext cx="2967241" cy="3442047"/>
                  <a:chOff x="2883349" y="3111062"/>
                  <a:chExt cx="3280482" cy="3622047"/>
                </a:xfrm>
              </p:grpSpPr>
              <p:sp>
                <p:nvSpPr>
                  <p:cNvPr id="39" name="任意多边形: 形状 38">
                    <a:extLst>
                      <a:ext uri="{FF2B5EF4-FFF2-40B4-BE49-F238E27FC236}">
                        <a16:creationId xmlns:a16="http://schemas.microsoft.com/office/drawing/2014/main" id="{50BECCE8-1EF3-6984-D194-451D5E7E8632}"/>
                      </a:ext>
                    </a:extLst>
                  </p:cNvPr>
                  <p:cNvSpPr/>
                  <p:nvPr/>
                </p:nvSpPr>
                <p:spPr>
                  <a:xfrm>
                    <a:off x="2883349" y="3111062"/>
                    <a:ext cx="3280482" cy="3622047"/>
                  </a:xfrm>
                  <a:custGeom>
                    <a:avLst/>
                    <a:gdLst>
                      <a:gd name="connsiteX0" fmla="*/ 0 w 3069020"/>
                      <a:gd name="connsiteY0" fmla="*/ 0 h 3510455"/>
                      <a:gd name="connsiteX1" fmla="*/ 2286511 w 3069020"/>
                      <a:gd name="connsiteY1" fmla="*/ 0 h 3510455"/>
                      <a:gd name="connsiteX2" fmla="*/ 2315877 w 3069020"/>
                      <a:gd name="connsiteY2" fmla="*/ 15324 h 3510455"/>
                      <a:gd name="connsiteX3" fmla="*/ 3069020 w 3069020"/>
                      <a:gd name="connsiteY3" fmla="*/ 731145 h 3510455"/>
                      <a:gd name="connsiteX4" fmla="*/ 3069020 w 3069020"/>
                      <a:gd name="connsiteY4" fmla="*/ 3510455 h 3510455"/>
                      <a:gd name="connsiteX5" fmla="*/ 0 w 3069020"/>
                      <a:gd name="connsiteY5" fmla="*/ 3510455 h 3510455"/>
                      <a:gd name="connsiteX0" fmla="*/ 0 w 3069020"/>
                      <a:gd name="connsiteY0" fmla="*/ 0 h 3510455"/>
                      <a:gd name="connsiteX1" fmla="*/ 2286511 w 3069020"/>
                      <a:gd name="connsiteY1" fmla="*/ 0 h 3510455"/>
                      <a:gd name="connsiteX2" fmla="*/ 2315877 w 3069020"/>
                      <a:gd name="connsiteY2" fmla="*/ 15324 h 3510455"/>
                      <a:gd name="connsiteX3" fmla="*/ 3069020 w 3069020"/>
                      <a:gd name="connsiteY3" fmla="*/ 731145 h 3510455"/>
                      <a:gd name="connsiteX4" fmla="*/ 3069020 w 3069020"/>
                      <a:gd name="connsiteY4" fmla="*/ 3510455 h 3510455"/>
                      <a:gd name="connsiteX5" fmla="*/ 0 w 3069020"/>
                      <a:gd name="connsiteY5" fmla="*/ 3510455 h 3510455"/>
                      <a:gd name="connsiteX6" fmla="*/ 0 w 3069020"/>
                      <a:gd name="connsiteY6" fmla="*/ 0 h 3510455"/>
                      <a:gd name="connsiteX0" fmla="*/ 25708 w 3094728"/>
                      <a:gd name="connsiteY0" fmla="*/ 0 h 3510455"/>
                      <a:gd name="connsiteX1" fmla="*/ 2312219 w 3094728"/>
                      <a:gd name="connsiteY1" fmla="*/ 0 h 3510455"/>
                      <a:gd name="connsiteX2" fmla="*/ 2341585 w 3094728"/>
                      <a:gd name="connsiteY2" fmla="*/ 15324 h 3510455"/>
                      <a:gd name="connsiteX3" fmla="*/ 3094728 w 3094728"/>
                      <a:gd name="connsiteY3" fmla="*/ 731145 h 3510455"/>
                      <a:gd name="connsiteX4" fmla="*/ 3094728 w 3094728"/>
                      <a:gd name="connsiteY4" fmla="*/ 3510455 h 3510455"/>
                      <a:gd name="connsiteX5" fmla="*/ 25708 w 3094728"/>
                      <a:gd name="connsiteY5" fmla="*/ 3510455 h 3510455"/>
                      <a:gd name="connsiteX6" fmla="*/ 25708 w 3094728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  <a:gd name="connsiteX0" fmla="*/ 36153 w 3105173"/>
                      <a:gd name="connsiteY0" fmla="*/ 0 h 3510455"/>
                      <a:gd name="connsiteX1" fmla="*/ 2322664 w 3105173"/>
                      <a:gd name="connsiteY1" fmla="*/ 0 h 3510455"/>
                      <a:gd name="connsiteX2" fmla="*/ 2352030 w 3105173"/>
                      <a:gd name="connsiteY2" fmla="*/ 15324 h 3510455"/>
                      <a:gd name="connsiteX3" fmla="*/ 3105173 w 3105173"/>
                      <a:gd name="connsiteY3" fmla="*/ 731145 h 3510455"/>
                      <a:gd name="connsiteX4" fmla="*/ 3105173 w 3105173"/>
                      <a:gd name="connsiteY4" fmla="*/ 3510455 h 3510455"/>
                      <a:gd name="connsiteX5" fmla="*/ 7230 w 3105173"/>
                      <a:gd name="connsiteY5" fmla="*/ 3510455 h 3510455"/>
                      <a:gd name="connsiteX6" fmla="*/ 36153 w 3105173"/>
                      <a:gd name="connsiteY6" fmla="*/ 0 h 35104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105173" h="3510455">
                        <a:moveTo>
                          <a:pt x="36153" y="0"/>
                        </a:moveTo>
                        <a:cubicBezTo>
                          <a:pt x="904373" y="50847"/>
                          <a:pt x="1560494" y="0"/>
                          <a:pt x="2322664" y="0"/>
                        </a:cubicBezTo>
                        <a:lnTo>
                          <a:pt x="2352030" y="15324"/>
                        </a:lnTo>
                        <a:lnTo>
                          <a:pt x="3105173" y="731145"/>
                        </a:lnTo>
                        <a:cubicBezTo>
                          <a:pt x="3105173" y="1657582"/>
                          <a:pt x="3018404" y="2541645"/>
                          <a:pt x="3105173" y="3510455"/>
                        </a:cubicBezTo>
                        <a:cubicBezTo>
                          <a:pt x="2053244" y="3459608"/>
                          <a:pt x="1117006" y="3459608"/>
                          <a:pt x="7230" y="3510455"/>
                        </a:cubicBezTo>
                        <a:cubicBezTo>
                          <a:pt x="7230" y="2340303"/>
                          <a:pt x="-21693" y="1170152"/>
                          <a:pt x="36153" y="0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altLang="zh-CN" sz="1200"/>
                  </a:p>
                  <a:p>
                    <a:pPr algn="ctr"/>
                    <a:endParaRPr lang="en-US" altLang="zh-CN" sz="1200"/>
                  </a:p>
                  <a:p>
                    <a:pPr algn="ctr"/>
                    <a:endParaRPr lang="en-US" altLang="zh-CN" sz="1200"/>
                  </a:p>
                  <a:p>
                    <a:pPr algn="ctr"/>
                    <a:endParaRPr lang="en-US" altLang="zh-CN" sz="1200"/>
                  </a:p>
                  <a:p>
                    <a:pPr algn="ctr"/>
                    <a:endParaRPr lang="en-US" altLang="zh-CN" sz="1200"/>
                  </a:p>
                  <a:p>
                    <a:pPr algn="ctr"/>
                    <a:endParaRPr lang="en-US" altLang="zh-CN" sz="80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  <a:p>
                    <a:pPr algn="ctr"/>
                    <a:r>
                      <a:rPr lang="en-US" altLang="zh-CN" sz="800">
                        <a:solidFill>
                          <a:schemeClr val="tx1">
                            <a:lumMod val="50000"/>
                          </a:schemeClr>
                        </a:solidFill>
                      </a:rPr>
                      <a:t>__init__.py</a:t>
                    </a:r>
                    <a:endParaRPr lang="zh-CN" altLang="en-US" sz="800">
                      <a:solidFill>
                        <a:schemeClr val="tx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40" name="任意多边形: 形状 39">
                    <a:extLst>
                      <a:ext uri="{FF2B5EF4-FFF2-40B4-BE49-F238E27FC236}">
                        <a16:creationId xmlns:a16="http://schemas.microsoft.com/office/drawing/2014/main" id="{40AE4D02-6588-B51F-30F9-6F08DE32B3A5}"/>
                      </a:ext>
                    </a:extLst>
                  </p:cNvPr>
                  <p:cNvSpPr/>
                  <p:nvPr/>
                </p:nvSpPr>
                <p:spPr>
                  <a:xfrm rot="13408035">
                    <a:off x="5027214" y="3419467"/>
                    <a:ext cx="1062195" cy="541091"/>
                  </a:xfrm>
                  <a:custGeom>
                    <a:avLst/>
                    <a:gdLst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  <a:gd name="connsiteX0" fmla="*/ 1062195 w 1062195"/>
                      <a:gd name="connsiteY0" fmla="*/ 534418 h 541091"/>
                      <a:gd name="connsiteX1" fmla="*/ 1030365 w 1062195"/>
                      <a:gd name="connsiteY1" fmla="*/ 541091 h 541091"/>
                      <a:gd name="connsiteX2" fmla="*/ 0 w 1062195"/>
                      <a:gd name="connsiteY2" fmla="*/ 541091 h 541091"/>
                      <a:gd name="connsiteX3" fmla="*/ 534393 w 1062195"/>
                      <a:gd name="connsiteY3" fmla="*/ 0 h 541091"/>
                      <a:gd name="connsiteX4" fmla="*/ 1062195 w 1062195"/>
                      <a:gd name="connsiteY4" fmla="*/ 534418 h 5410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62195" h="541091">
                        <a:moveTo>
                          <a:pt x="1062195" y="534418"/>
                        </a:moveTo>
                        <a:lnTo>
                          <a:pt x="1030365" y="541091"/>
                        </a:lnTo>
                        <a:lnTo>
                          <a:pt x="0" y="541091"/>
                        </a:lnTo>
                        <a:cubicBezTo>
                          <a:pt x="178131" y="360727"/>
                          <a:pt x="136110" y="357977"/>
                          <a:pt x="534393" y="0"/>
                        </a:cubicBezTo>
                        <a:cubicBezTo>
                          <a:pt x="896687" y="407497"/>
                          <a:pt x="902466" y="354898"/>
                          <a:pt x="1062195" y="534418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noFill/>
                  </a:ln>
                  <a:effectLst>
                    <a:outerShdw blurRad="38100" dist="25400" dir="7200000" algn="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 sz="1200"/>
                  </a:p>
                </p:txBody>
              </p:sp>
            </p:grpSp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B93F42FB-1FBF-1677-3C65-CA1438373488}"/>
                    </a:ext>
                  </a:extLst>
                </p:cNvPr>
                <p:cNvSpPr txBox="1"/>
                <p:nvPr/>
              </p:nvSpPr>
              <p:spPr>
                <a:xfrm>
                  <a:off x="4532118" y="3486872"/>
                  <a:ext cx="2463500" cy="6417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  <a:buNone/>
                  </a:pPr>
                  <a:endParaRPr lang="en-US" altLang="zh-CN" sz="900">
                    <a:solidFill>
                      <a:srgbClr val="080808"/>
                    </a:solidFill>
                    <a:effectLst/>
                    <a:latin typeface="Fira Code" panose="020B0809050000020004" pitchFamily="49" charset="0"/>
                  </a:endParaRPr>
                </a:p>
              </p:txBody>
            </p:sp>
          </p:grpSp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6FBA0D9-3D0B-DBD0-D9A6-FFE5FA8CA419}"/>
                  </a:ext>
                </a:extLst>
              </p:cNvPr>
              <p:cNvSpPr/>
              <p:nvPr/>
            </p:nvSpPr>
            <p:spPr>
              <a:xfrm>
                <a:off x="1879023" y="1299537"/>
                <a:ext cx="734553" cy="270755"/>
              </a:xfrm>
              <a:prstGeom prst="roundRect">
                <a:avLst>
                  <a:gd name="adj" fmla="val 18622"/>
                </a:avLst>
              </a:prstGeom>
              <a:solidFill>
                <a:srgbClr val="E8E8E8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700">
                    <a:solidFill>
                      <a:schemeClr val="tx1">
                        <a:lumMod val="50000"/>
                      </a:schemeClr>
                    </a:solidFill>
                  </a:rPr>
                  <a:t>配置</a:t>
                </a:r>
                <a:r>
                  <a:rPr lang="en-US" altLang="zh-CN" sz="700">
                    <a:solidFill>
                      <a:schemeClr val="tx1">
                        <a:lumMod val="50000"/>
                      </a:schemeClr>
                    </a:solidFill>
                  </a:rPr>
                  <a:t>1</a:t>
                </a:r>
                <a:endParaRPr lang="zh-CN" altLang="en-US" sz="70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AECC036A-FFE8-4BCF-B534-0D1B5B0CDE61}"/>
                </a:ext>
              </a:extLst>
            </p:cNvPr>
            <p:cNvSpPr/>
            <p:nvPr/>
          </p:nvSpPr>
          <p:spPr>
            <a:xfrm>
              <a:off x="6447390" y="3831499"/>
              <a:ext cx="594893" cy="219276"/>
            </a:xfrm>
            <a:prstGeom prst="roundRect">
              <a:avLst>
                <a:gd name="adj" fmla="val 18622"/>
              </a:avLst>
            </a:prstGeom>
            <a:solidFill>
              <a:srgbClr val="E8E8E8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>
                  <a:solidFill>
                    <a:schemeClr val="tx1">
                      <a:lumMod val="50000"/>
                    </a:schemeClr>
                  </a:solidFill>
                </a:rPr>
                <a:t>配置</a:t>
              </a:r>
              <a:r>
                <a:rPr lang="en-US" altLang="zh-CN" sz="70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lang="zh-CN" altLang="en-US" sz="70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graphicFrame>
        <p:nvGraphicFramePr>
          <p:cNvPr id="43" name="表格 42">
            <a:extLst>
              <a:ext uri="{FF2B5EF4-FFF2-40B4-BE49-F238E27FC236}">
                <a16:creationId xmlns:a16="http://schemas.microsoft.com/office/drawing/2014/main" id="{7ADF0494-509F-5F70-9B93-1343C5A33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754552"/>
              </p:ext>
            </p:extLst>
          </p:nvPr>
        </p:nvGraphicFramePr>
        <p:xfrm>
          <a:off x="616588" y="2991629"/>
          <a:ext cx="10958823" cy="3226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963">
                  <a:extLst>
                    <a:ext uri="{9D8B030D-6E8A-4147-A177-3AD203B41FA5}">
                      <a16:colId xmlns:a16="http://schemas.microsoft.com/office/drawing/2014/main" val="2669930531"/>
                    </a:ext>
                  </a:extLst>
                </a:gridCol>
                <a:gridCol w="3887111">
                  <a:extLst>
                    <a:ext uri="{9D8B030D-6E8A-4147-A177-3AD203B41FA5}">
                      <a16:colId xmlns:a16="http://schemas.microsoft.com/office/drawing/2014/main" val="47741886"/>
                    </a:ext>
                  </a:extLst>
                </a:gridCol>
                <a:gridCol w="1598725">
                  <a:extLst>
                    <a:ext uri="{9D8B030D-6E8A-4147-A177-3AD203B41FA5}">
                      <a16:colId xmlns:a16="http://schemas.microsoft.com/office/drawing/2014/main" val="1230114921"/>
                    </a:ext>
                  </a:extLst>
                </a:gridCol>
                <a:gridCol w="2875024">
                  <a:extLst>
                    <a:ext uri="{9D8B030D-6E8A-4147-A177-3AD203B41FA5}">
                      <a16:colId xmlns:a16="http://schemas.microsoft.com/office/drawing/2014/main" val="2193369814"/>
                    </a:ext>
                  </a:extLst>
                </a:gridCol>
              </a:tblGrid>
              <a:tr h="5260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导入形式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代码样例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调用方式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调用方式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11152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包名</a:t>
                      </a:r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.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模块名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import utils.my_fun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latin typeface="Fira Code" panose="020B0809050000020004" pitchFamily="49" charset="0"/>
                        </a:rPr>
                        <a:t>包名</a:t>
                      </a: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.</a:t>
                      </a:r>
                      <a:r>
                        <a:rPr lang="zh-CN" altLang="en-US" sz="1100">
                          <a:latin typeface="Fira Code" panose="020B0809050000020004" pitchFamily="49" charset="0"/>
                        </a:rPr>
                        <a:t>模块名</a:t>
                      </a: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.</a:t>
                      </a:r>
                      <a:r>
                        <a:rPr lang="zh-CN" altLang="en-US" sz="1100"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utils.my_fun.log_separator1()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09305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from 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包名 </a:t>
                      </a:r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模块名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from utils import my_fun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>
                          <a:latin typeface="Fira Code" panose="020B0809050000020004" pitchFamily="49" charset="0"/>
                        </a:rPr>
                        <a:t>模块名</a:t>
                      </a: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.</a:t>
                      </a:r>
                      <a:r>
                        <a:rPr lang="zh-CN" altLang="en-US" sz="1100"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my_fun.log_separator1()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4502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from 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包名 </a:t>
                      </a:r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*</a:t>
                      </a:r>
                      <a:endParaRPr lang="zh-CN" altLang="en-US" sz="1100">
                        <a:solidFill>
                          <a:srgbClr val="C00000"/>
                        </a:solidFill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from utils import *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>
                          <a:latin typeface="Fira Code" panose="020B0809050000020004" pitchFamily="49" charset="0"/>
                        </a:rPr>
                        <a:t>模块名</a:t>
                      </a: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.</a:t>
                      </a:r>
                      <a:r>
                        <a:rPr lang="zh-CN" altLang="en-US" sz="1100"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my_fun.log_separator1()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66732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from 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包名</a:t>
                      </a:r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.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模块名 </a:t>
                      </a:r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from utils.my_fun import log_separator1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log_separator1()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67208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from 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包名</a:t>
                      </a:r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.</a:t>
                      </a:r>
                      <a:r>
                        <a:rPr lang="zh-CN" altLang="en-US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模块名 </a:t>
                      </a:r>
                      <a:r>
                        <a:rPr lang="en-US" altLang="zh-CN" sz="1100">
                          <a:solidFill>
                            <a:srgbClr val="C00000"/>
                          </a:solidFill>
                          <a:latin typeface="Fira Code" panose="020B0809050000020004" pitchFamily="49" charset="0"/>
                        </a:rPr>
                        <a:t>import *</a:t>
                      </a:r>
                      <a:endParaRPr lang="zh-CN" altLang="en-US" sz="1100">
                        <a:solidFill>
                          <a:srgbClr val="C00000"/>
                        </a:solidFill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from utils.my_fun import *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>
                          <a:latin typeface="Fira Code" panose="020B0809050000020004" pitchFamily="49" charset="0"/>
                        </a:rPr>
                        <a:t>功能名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>
                          <a:latin typeface="Fira Code" panose="020B0809050000020004" pitchFamily="49" charset="0"/>
                        </a:rPr>
                        <a:t>log_separator1()</a:t>
                      </a:r>
                      <a:endParaRPr lang="zh-CN" altLang="en-US" sz="1100">
                        <a:latin typeface="Fira Code" panose="020B0809050000020004" pitchFamily="49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109198"/>
                  </a:ext>
                </a:extLst>
              </a:tr>
            </a:tbl>
          </a:graphicData>
        </a:graphic>
      </p:graphicFrame>
      <p:grpSp>
        <p:nvGrpSpPr>
          <p:cNvPr id="44" name="组合 43">
            <a:extLst>
              <a:ext uri="{FF2B5EF4-FFF2-40B4-BE49-F238E27FC236}">
                <a16:creationId xmlns:a16="http://schemas.microsoft.com/office/drawing/2014/main" id="{0E5FFF1C-1453-B9E4-8375-6E2FC386882D}"/>
              </a:ext>
            </a:extLst>
          </p:cNvPr>
          <p:cNvGrpSpPr/>
          <p:nvPr/>
        </p:nvGrpSpPr>
        <p:grpSpPr>
          <a:xfrm>
            <a:off x="630433" y="6432542"/>
            <a:ext cx="10958823" cy="348335"/>
            <a:chOff x="4685665" y="1834757"/>
            <a:chExt cx="10552693" cy="348335"/>
          </a:xfrm>
        </p:grpSpPr>
        <p:sp>
          <p:nvSpPr>
            <p:cNvPr id="45" name="ComponentBackground2">
              <a:extLst>
                <a:ext uri="{FF2B5EF4-FFF2-40B4-BE49-F238E27FC236}">
                  <a16:creationId xmlns:a16="http://schemas.microsoft.com/office/drawing/2014/main" id="{258F8496-57B1-25FE-E9F1-E40C6F4B8DEC}"/>
                </a:ext>
              </a:extLst>
            </p:cNvPr>
            <p:cNvSpPr>
              <a:spLocks/>
            </p:cNvSpPr>
            <p:nvPr/>
          </p:nvSpPr>
          <p:spPr>
            <a:xfrm>
              <a:off x="4708525" y="1834757"/>
              <a:ext cx="10529833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在通过 </a:t>
              </a:r>
              <a:r>
                <a:rPr kumimoji="1" lang="en-US" altLang="zh-CN" sz="1200" kern="0">
                  <a:solidFill>
                    <a:srgbClr val="C00000"/>
                  </a:solidFill>
                  <a:ea typeface="微软雅黑"/>
                </a:rPr>
                <a:t>'from </a:t>
              </a:r>
              <a:r>
                <a:rPr kumimoji="1" lang="zh-CN" altLang="en-US" sz="1200" kern="0">
                  <a:solidFill>
                    <a:srgbClr val="C00000"/>
                  </a:solidFill>
                  <a:ea typeface="微软雅黑"/>
                </a:rPr>
                <a:t>包名 </a:t>
              </a:r>
              <a:r>
                <a:rPr kumimoji="1" lang="en-US" altLang="zh-CN" sz="1200" kern="0">
                  <a:solidFill>
                    <a:srgbClr val="C00000"/>
                  </a:solidFill>
                  <a:ea typeface="微软雅黑"/>
                </a:rPr>
                <a:t>import *'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导入全部模块的时候，需要在 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__init__.py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文件中添加 </a:t>
              </a:r>
              <a:r>
                <a:rPr kumimoji="1" lang="en-US" altLang="zh-CN" sz="1200" kern="0">
                  <a:solidFill>
                    <a:srgbClr val="C00000"/>
                  </a:solidFill>
                  <a:ea typeface="微软雅黑"/>
                </a:rPr>
                <a:t>'__all__=[]'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，控制允许导入的模块列表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46" name="Shape2">
              <a:extLst>
                <a:ext uri="{FF2B5EF4-FFF2-40B4-BE49-F238E27FC236}">
                  <a16:creationId xmlns:a16="http://schemas.microsoft.com/office/drawing/2014/main" id="{8E91D397-BB8A-5BEB-A9B7-C6D8E8994E31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E71DBC99-C178-EF67-95D2-FCDCE57F899C}"/>
              </a:ext>
            </a:extLst>
          </p:cNvPr>
          <p:cNvSpPr txBox="1"/>
          <p:nvPr/>
        </p:nvSpPr>
        <p:spPr>
          <a:xfrm>
            <a:off x="8580055" y="2193343"/>
            <a:ext cx="2787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00B050"/>
                </a:solidFill>
              </a:rPr>
              <a:t>__all__=["my_fun", "my_var"]</a:t>
            </a:r>
            <a:endParaRPr lang="zh-CN" altLang="en-US" sz="120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937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6F9D-2594-F9EC-1227-3CEE67892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ED1E501-3BDA-A8A6-05E8-CC8A530A5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876300"/>
            <a:ext cx="7981415" cy="520064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什么是包</a:t>
            </a:r>
            <a:r>
              <a:rPr lang="en-US" altLang="zh-CN"/>
              <a:t>? </a:t>
            </a:r>
            <a:r>
              <a:rPr lang="zh-CN" altLang="en-US"/>
              <a:t>有什么作用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包就是一个文件夹，里面可以存储很多</a:t>
            </a:r>
            <a:r>
              <a:rPr lang="en-US" altLang="zh-CN" sz="1400"/>
              <a:t>Python</a:t>
            </a:r>
            <a:r>
              <a:rPr lang="zh-CN" altLang="en-US" sz="1400"/>
              <a:t>模块（</a:t>
            </a:r>
            <a:r>
              <a:rPr lang="en-US" altLang="zh-CN" sz="1400"/>
              <a:t>py</a:t>
            </a:r>
            <a:r>
              <a:rPr lang="zh-CN" altLang="en-US" sz="1400"/>
              <a:t>文件），通过包可以对模块进行归类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__init__.py</a:t>
            </a:r>
            <a:r>
              <a:rPr lang="zh-CN" altLang="en-US"/>
              <a:t>文件的作用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标识这是一个包，而不是普通的文件夹</a:t>
            </a:r>
            <a:endParaRPr lang="en-US" altLang="zh-CN" sz="14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控制在 </a:t>
            </a:r>
            <a:r>
              <a:rPr lang="en-US" altLang="zh-CN" sz="1400"/>
              <a:t>import * </a:t>
            </a:r>
            <a:r>
              <a:rPr lang="zh-CN" altLang="en-US" sz="1400"/>
              <a:t>时导入的模块列表</a:t>
            </a:r>
            <a:r>
              <a:rPr lang="en-US" altLang="zh-CN" sz="1400"/>
              <a:t>(__all__</a:t>
            </a:r>
            <a:r>
              <a:rPr lang="zh-CN" altLang="en-US" sz="1400"/>
              <a:t>变量</a:t>
            </a:r>
            <a:r>
              <a:rPr lang="en-US" altLang="zh-CN" sz="140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导入包的方式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import </a:t>
            </a:r>
            <a:r>
              <a:rPr lang="zh-CN" altLang="en-US" sz="1400"/>
              <a:t>包名</a:t>
            </a:r>
            <a:r>
              <a:rPr lang="en-US" altLang="zh-CN" sz="1400"/>
              <a:t>.</a:t>
            </a:r>
            <a:r>
              <a:rPr lang="zh-CN" altLang="en-US" sz="1400"/>
              <a:t>模块名</a:t>
            </a:r>
            <a:endParaRPr lang="en-US" altLang="zh-CN" sz="14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from </a:t>
            </a:r>
            <a:r>
              <a:rPr lang="zh-CN" altLang="en-US" sz="1400"/>
              <a:t>包名 </a:t>
            </a:r>
            <a:r>
              <a:rPr lang="en-US" altLang="zh-CN" sz="1400"/>
              <a:t>import </a:t>
            </a:r>
            <a:r>
              <a:rPr lang="zh-CN" altLang="en-US" sz="1400"/>
              <a:t>模块名</a:t>
            </a:r>
            <a:endParaRPr lang="en-US" altLang="zh-CN" sz="14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from </a:t>
            </a:r>
            <a:r>
              <a:rPr lang="zh-CN" altLang="en-US" sz="1400"/>
              <a:t>包名 </a:t>
            </a:r>
            <a:r>
              <a:rPr lang="en-US" altLang="zh-CN" sz="1400"/>
              <a:t>import *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from </a:t>
            </a:r>
            <a:r>
              <a:rPr lang="zh-CN" altLang="en-US" sz="1400"/>
              <a:t>包名</a:t>
            </a:r>
            <a:r>
              <a:rPr lang="en-US" altLang="zh-CN" sz="1400"/>
              <a:t>.</a:t>
            </a:r>
            <a:r>
              <a:rPr lang="zh-CN" altLang="en-US" sz="1400"/>
              <a:t>模块名 </a:t>
            </a:r>
            <a:r>
              <a:rPr lang="en-US" altLang="zh-CN" sz="1400"/>
              <a:t>import </a:t>
            </a:r>
            <a:r>
              <a:rPr lang="zh-CN" altLang="en-US" sz="1400"/>
              <a:t>功能名</a:t>
            </a:r>
            <a:endParaRPr lang="en-US" altLang="zh-CN" sz="14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from </a:t>
            </a:r>
            <a:r>
              <a:rPr lang="zh-CN" altLang="en-US" sz="1400"/>
              <a:t>包名</a:t>
            </a:r>
            <a:r>
              <a:rPr lang="en-US" altLang="zh-CN" sz="1400"/>
              <a:t>.</a:t>
            </a:r>
            <a:r>
              <a:rPr lang="zh-CN" altLang="en-US" sz="1400"/>
              <a:t>模块名 </a:t>
            </a:r>
            <a:r>
              <a:rPr lang="en-US" altLang="zh-CN" sz="1400"/>
              <a:t>import *</a:t>
            </a:r>
          </a:p>
        </p:txBody>
      </p:sp>
    </p:spTree>
    <p:extLst>
      <p:ext uri="{BB962C8B-B14F-4D97-AF65-F5344CB8AC3E}">
        <p14:creationId xmlns:p14="http://schemas.microsoft.com/office/powerpoint/2010/main" val="360597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A541AE-4E98-613A-A413-C9B1890D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F6F6"/>
        </a:solidFill>
        <a:ln w="3175">
          <a:noFill/>
        </a:ln>
        <a:effectLst>
          <a:outerShdw blurRad="50800" dist="38100" dir="16200000" rotWithShape="0">
            <a:prstClr val="black">
              <a:alpha val="40000"/>
            </a:prstClr>
          </a:outerShdw>
        </a:effectLst>
      </a:spPr>
      <a:bodyPr lIns="36000" tIns="252000" rIns="36000" bIns="0" rtlCol="0" anchor="t"/>
      <a:lstStyle>
        <a:defPPr algn="l">
          <a:lnSpc>
            <a:spcPct val="200000"/>
          </a:lnSpc>
          <a:buNone/>
          <a:defRPr sz="1100">
            <a:solidFill>
              <a:srgbClr val="8C8C8C"/>
            </a:solidFill>
            <a:effectLst/>
            <a:latin typeface="Fira Code" panose="020B08090500000200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19540</TotalTime>
  <Words>3351</Words>
  <Application>Microsoft Office PowerPoint</Application>
  <PresentationFormat>宽屏</PresentationFormat>
  <Paragraphs>562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Alibaba PuHuiTi B</vt:lpstr>
      <vt:lpstr>阿里巴巴普惠体 Heavy</vt:lpstr>
      <vt:lpstr>阿里巴巴普惠体 Medium</vt:lpstr>
      <vt:lpstr>等线</vt:lpstr>
      <vt:lpstr>荆南波波黑</vt:lpstr>
      <vt:lpstr>楷体</vt:lpstr>
      <vt:lpstr>微软雅黑</vt:lpstr>
      <vt:lpstr>Arial</vt:lpstr>
      <vt:lpstr>Calisto MT</vt:lpstr>
      <vt:lpstr>Courier New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小结思考模板2</vt:lpstr>
      <vt:lpstr>Python核心语法</vt:lpstr>
      <vt:lpstr>Python模块</vt:lpstr>
      <vt:lpstr>Python模块</vt:lpstr>
      <vt:lpstr>Python模块</vt:lpstr>
      <vt:lpstr>PowerPoint 演示文稿</vt:lpstr>
      <vt:lpstr>模块导入方式</vt:lpstr>
      <vt:lpstr>PowerPoint 演示文稿</vt:lpstr>
      <vt:lpstr>PowerPoint 演示文稿</vt:lpstr>
      <vt:lpstr>自定义模块</vt:lpstr>
      <vt:lpstr>自定义模块</vt:lpstr>
      <vt:lpstr>__all__</vt:lpstr>
      <vt:lpstr>PowerPoint 演示文稿</vt:lpstr>
      <vt:lpstr>PowerPoint 演示文稿</vt:lpstr>
      <vt:lpstr>PowerPoint 演示文稿</vt:lpstr>
      <vt:lpstr>PowerPoint 演示文稿</vt:lpstr>
      <vt:lpstr>包</vt:lpstr>
      <vt:lpstr>包的导入方式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1945</cp:revision>
  <cp:lastPrinted>2022-05-29T16:00:00Z</cp:lastPrinted>
  <dcterms:created xsi:type="dcterms:W3CDTF">2022-05-29T16:00:00Z</dcterms:created>
  <dcterms:modified xsi:type="dcterms:W3CDTF">2025-12-10T09:30:02Z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